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Be Vietnam Pro"/>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7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3241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Đỗ Văn Tiến (PM). Kính chào thầy và các bạn. Nhóm xin trình bày kế hoạch dự án cho Final Project: e-HoSo, hệ thống tiếp nhận, xử lý và theo dõi hồ sơ thủ tục hành chính trực tuyến cấp xã/phường. Bài trình bày đi theo đúng cấu trúc Project Plan: tổng quan đề tài, kế hoạch quản lý dự án, kế hoạch công việc và phân tích rủi ro, trong khoảng 12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Đỗ Văn Tiến. Từ 01/7/2025, chính quyền địa phương hai cấp chuyển nhiều thủ tục về cấp xã/phường, khối lượng hồ sơ tại bộ phận một cửa tăng mạnh. Nhóm nhìn bài toán từ ba phía: người dân phải đến trực tiếp và không biết hồ sơ đang ở đâu; cán bộ theo dõi bằng sổ, bảng tính nên dễ sót hạn; lãnh đạo thiếu số liệu để điều phối. e-HoSo gom ba nhu cầu này vào một hệ thống thống nhất.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Đỗ Văn Tiến. Dự án có bốn mục tiêu. Nhóm chủ động giới hạn ở 3 thủ tục tư pháp – hộ tịch để làm trọn vẹn toàn trình thay vì dàn trải. Phạm vi MVP gồm cổng người dân, phân hệ cán bộ, phân quyền 4 vai trò, thông báo và dashboard. Các phần như kết nối Cổng DVC quốc gia, VNeID, thanh toán và ký số thật nằm ngoài phạm vi; ký số chỉ được mô phỏng. Toàn bộ dữ liệu là dữ liệu giả lập.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Đỗ Văn Phương. Nhóm có 5 thành viên, mỗi người một vai trò chính gắn với thế mạnh: anh Tiến làm PM kiêm phân tích nghiệp vụ; Khang là trưởng kỹ thuật; Quang Anh phụ trách backend và cơ sở dữ liệu; em phụ trách frontend và UI/UX; Đạt phụ trách kiểm thử và DevOps. Nguyên tắc của nhóm là đóng góp như nhau: mỗi người đúng 65 giờ, mỗi người điều phối một mốc từ M1 đến M5, và hôm nay mỗi người trình bày 2 slide nội dung. Mỗi vai trò có người dự phòng để tiến độ không gián đoạn.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Đỗ Văn Phương. Điều lệ nhóm quy định cách nhóm làm việc. Nhóm họp tuần tối Chủ nhật, họp nhanh tối thứ Tư trong sprint; biên bản họp đưa lên repository trong 24 giờ. Quyết định ưu tiên đồng thuận, với phân quyền rõ: kỹ thuật do trưởng kỹ thuật chốt, phạm vi và tiến độ do PM chốt. Một task chỉ được coi là xong khi đạt Định nghĩa hoàn thành. Vì dự án gói gọn trong 6 tuần, mỗi thành viên cam kết tối thiểu 11 giờ mỗi tuần.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Đoàn Quang Anh. Dự án hoàn thành trong 6 tuần, từ 27/10 đến 06/12. Hai tuần đầu dành cho yêu cầu và thiết kế: SRS vào 01/11, thiết kế vào 08/11. Ba tuần tiếp theo xây dựng bằng hai sprint: cổng người dân xong 20/11, phân hệ cán bộ và dashboard xong 29/11. Tuần cuối dành cho kiểm thử chấp nhận, báo cáo và bảo vệ vào 06/12. Mốc khởi động do cả nhóm cùng làm; từ M1 đến M5, mỗi thành viên điều phối đúng một mốc.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Mai Thành Khang. Về quản lý phiên bản, nhóm dùng một repository GitHub duy nhất: thư mục docs là DocumentsRepository, meetings là MeetingsRepository. Nhóm theo GitHub Flow, nhánh main được bảo vệ, mọi thay đổi qua Pull Request có review và CI. Môi trường gồm Spring Boot, React, PostgreSQL, chạy đồng nhất bằng Docker Compose. Về chuẩn, mã nguồn theo Google Java Style và ESLint; tài liệu theo các chuẩn ISO/IEC/IEEE đã học trong học phần.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Mai Xuân Đạt. Nhóm theo dõi 8 chỉ số, chia ba nhóm: tiến độ và nỗ lực, phạm vi và yêu cầu, chất lượng. Mỗi chỉ số có mục đích, nguồn dữ liệu tự động hoặc bán tự động từ GitHub, người phụ trách và ngưỡng cảnh báo. Ví dụ: tiến độ chậm hơn kế hoạch quá 10% thì nhóm phải lập lại kế hoạch; độ bao phủ unit test dưới 70% thì Pull Request chưa được merge. Thành viên cập nhật trước tối Chủ nhật để PM tổng hợp trước họp tuần.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Đoàn Quang Anh. Kế hoạch gồm 28 công việc, tổng nỗ lực ước tính 325 giờ trong 6 tuần. Slide gộp thành 8 nhóm việc; bảng đầy đủ với tính chất, sản phẩm bàn giao, ngày bắt đầu, ngày hoàn thành, % hoàn thành và người phụ trách nằm ở Mục 8 của tài liệu. Hai sprint xây dựng chiếm khoảng 42% tổng nỗ lực. Kiểm thử chạy song song trong từng sprint để phát hiện lỗi sớm, tuần cuối chỉ còn kiểm thử chấp nhận và hoàn thiện báo cáo.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Mai Xuân Đạt. Nhóm thống nhất nguyên tắc mọi vị trí đóng góp như nhau. Tổng 325 giờ được chia đều, mỗi người đúng 65 giờ, tức 20% công việc, khoảng 11 giờ mỗi tuần. Màu trên mỗi thanh cho thấy mỗi người đóng góp theo thế mạnh của vai trò: anh Tiến chủ yếu quản lý và phân tích, Khang, Quang Anh, Phương thiết kế và lập trình, em phụ trách kiểm thử. Các việc chung như khảo sát bài toán, báo cáo cuối kỳ và chuẩn bị bảo vệ được chia đều cho cả 5 người.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Mai Thành Khang. Nhóm nhận diện 8 rủi ro, chấm khả năng xảy ra và mức tác động theo thang 1 đến 3. Rủi ro lớn nhất là lịch 6 tuần khá căng trong khi các thành viên vừa học vừa làm; nhóm chia task nhỏ, theo dõi hằng tuần, và nếu trễ sẽ cắt các yêu cầu mức Could trước, không lùi mốc. Phình phạm vi được tránh bằng cách cố định 3 thủ tục mẫu. Với rủi ro demo lỗi, nhóm luôn có bản chạy cục bộ và video quay sẵn. Bốn rủi ro còn lại được theo dõi tại họp tuần.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Đỗ Văn Tiến. Ngay sau buổi hôm nay, nhóm thiết lập repository và CI, đồng thời hoàn thiện khảo sát yêu cầu để nộp SRS vào 01/11. Tóm lại: đề tài giải quyết bài toán thực tế ở cấp xã, phạm vi được giới hạn rõ, mỗi thành viên đóng góp như nhau, 65 giờ mỗi người, và dự án gói gọn trong 6 tuần, có quy trình, chỉ số và phương án rủi ro cụ thể. Nhóm xin cảm ơn thầy và các bạn, rất mong nhận được góp ý.</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CEF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4284B"/>
                </a:solidFill>
                <a:latin typeface="Be Vietnam Pro" pitchFamily="34" charset="0"/>
                <a:ea typeface="Be Vietnam Pro" pitchFamily="34" charset="-122"/>
                <a:cs typeface="Be Vietnam Pro"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4441"/>
            <a:ext cx="10566400" cy="4170759"/>
          </a:xfrm>
          <a:prstGeom prst="rect">
            <a:avLst/>
          </a:prstGeom>
          <a:noFill/>
          <a:ln/>
        </p:spPr>
        <p:txBody>
          <a:bodyPr wrap="square" lIns="0" tIns="0" rIns="0" bIns="0" rtlCol="0" anchor="t"/>
          <a:lstStyle>
            <a:lvl1pPr marL="0" indent="0" algn="l">
              <a:lnSpc>
                <a:spcPct val="140000"/>
              </a:lnSpc>
              <a:buNone/>
              <a:defRPr lang="en-US" sz="1600" dirty="0">
                <a:solidFill>
                  <a:srgbClr val="14284B"/>
                </a:solidFill>
                <a:latin typeface="Be Vietnam Pro" pitchFamily="34" charset="0"/>
                <a:ea typeface="Be Vietnam Pro" pitchFamily="34" charset="-122"/>
                <a:cs typeface="Be Vietnam Pr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F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4284B"/>
                </a:solidFill>
                <a:latin typeface="Be Vietnam Pro" pitchFamily="34" charset="0"/>
                <a:ea typeface="Be Vietnam Pro" pitchFamily="34" charset="-122"/>
                <a:cs typeface="Be Vietnam Pro"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4441"/>
            <a:ext cx="10566400" cy="4170759"/>
          </a:xfrm>
          <a:prstGeom prst="rect">
            <a:avLst/>
          </a:prstGeom>
          <a:noFill/>
          <a:ln/>
        </p:spPr>
        <p:txBody>
          <a:bodyPr wrap="square" lIns="0" tIns="0" rIns="0" bIns="0" rtlCol="0" anchor="t"/>
          <a:lstStyle>
            <a:lvl1pPr marL="0" indent="0" algn="l">
              <a:lnSpc>
                <a:spcPct val="140000"/>
              </a:lnSpc>
              <a:buNone/>
              <a:defRPr lang="en-US" sz="1600" dirty="0">
                <a:solidFill>
                  <a:srgbClr val="14284B"/>
                </a:solidFill>
                <a:latin typeface="Be Vietnam Pro" pitchFamily="34" charset="0"/>
                <a:ea typeface="Be Vietnam Pro" pitchFamily="34" charset="-122"/>
                <a:cs typeface="Be Vietnam Pr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4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E8A598"/>
                </a:solidFill>
                <a:latin typeface="Be Vietnam Pro" pitchFamily="34" charset="0"/>
                <a:ea typeface="Be Vietnam Pro" pitchFamily="34" charset="-122"/>
                <a:cs typeface="Be Vietnam Pro" pitchFamily="34" charset="-120"/>
              </a:rPr>
              <a:t>INS6021 · PHÁT TRIỂN PHẦN MỀM · FINAL PROJECT</a:t>
            </a:r>
            <a:endParaRPr lang="en-US" sz="1400" dirty="0"/>
          </a:p>
        </p:txBody>
      </p:sp>
      <p:sp>
        <p:nvSpPr>
          <p:cNvPr id="3" name="Text 1"/>
          <p:cNvSpPr>
            <a:spLocks noGrp="1"/>
          </p:cNvSpPr>
          <p:nvPr>
            <p:ph type="title"/>
          </p:nvPr>
        </p:nvSpPr>
        <p:spPr>
          <a:xfrm>
            <a:off x="812800" y="123949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5F0"/>
                </a:solidFill>
                <a:latin typeface="Be Vietnam Pro" pitchFamily="34" charset="0"/>
                <a:ea typeface="Be Vietnam Pro" pitchFamily="34" charset="-122"/>
                <a:cs typeface="Be Vietnam Pro" pitchFamily="34" charset="-120"/>
              </a:rPr>
              <a:t>e-HoSo</a:t>
            </a:r>
            <a:endParaRPr lang="en-US" sz="6000" dirty="0"/>
          </a:p>
        </p:txBody>
      </p:sp>
      <p:sp>
        <p:nvSpPr>
          <p:cNvPr id="4" name="Text 2"/>
          <p:cNvSpPr/>
          <p:nvPr/>
        </p:nvSpPr>
        <p:spPr>
          <a:xfrm>
            <a:off x="812800" y="2217390"/>
            <a:ext cx="10883392" cy="75178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DCE3EE"/>
                </a:solidFill>
                <a:latin typeface="Be Vietnam Pro" pitchFamily="34" charset="0"/>
                <a:ea typeface="Be Vietnam Pro" pitchFamily="34" charset="-122"/>
                <a:cs typeface="Be Vietnam Pro" pitchFamily="34" charset="-120"/>
              </a:rPr>
              <a:t>Hệ thống tiếp nhận, xử lý và theo dõi hồ sơ thủ tục hành chính trực tuyến cấp xã/phường</a:t>
            </a:r>
            <a:endParaRPr lang="en-US" sz="2200" dirty="0"/>
          </a:p>
        </p:txBody>
      </p:sp>
      <p:sp>
        <p:nvSpPr>
          <p:cNvPr id="5" name="Shape 3"/>
          <p:cNvSpPr/>
          <p:nvPr/>
        </p:nvSpPr>
        <p:spPr>
          <a:xfrm>
            <a:off x="812800" y="3121571"/>
            <a:ext cx="1016000" cy="38100"/>
          </a:xfrm>
          <a:prstGeom prst="rect">
            <a:avLst/>
          </a:prstGeom>
          <a:solidFill>
            <a:srgbClr val="B23A2E"/>
          </a:solidFill>
          <a:ln/>
        </p:spPr>
        <p:txBody>
          <a:bodyPr/>
          <a:lstStyle/>
          <a:p>
            <a:endParaRPr lang="en-VN"/>
          </a:p>
        </p:txBody>
      </p:sp>
      <p:sp>
        <p:nvSpPr>
          <p:cNvPr id="6" name="Text 4"/>
          <p:cNvSpPr/>
          <p:nvPr/>
        </p:nvSpPr>
        <p:spPr>
          <a:xfrm>
            <a:off x="812800" y="5181699"/>
            <a:ext cx="7138649"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7F5F0"/>
                </a:solidFill>
                <a:latin typeface="Be Vietnam Pro" pitchFamily="34" charset="0"/>
                <a:ea typeface="Be Vietnam Pro" pitchFamily="34" charset="-122"/>
                <a:cs typeface="Be Vietnam Pro" pitchFamily="34" charset="-120"/>
              </a:rPr>
              <a:t>Project Plan – Kế hoạch dự án</a:t>
            </a:r>
            <a:endParaRPr lang="en-US" sz="1600" dirty="0"/>
          </a:p>
        </p:txBody>
      </p:sp>
      <p:sp>
        <p:nvSpPr>
          <p:cNvPr id="7" name="Text 5"/>
          <p:cNvSpPr/>
          <p:nvPr/>
        </p:nvSpPr>
        <p:spPr>
          <a:xfrm>
            <a:off x="812800" y="5542359"/>
            <a:ext cx="8316873" cy="238720"/>
          </a:xfrm>
          <a:prstGeom prst="rect">
            <a:avLst/>
          </a:prstGeom>
          <a:noFill/>
          <a:ln/>
        </p:spPr>
        <p:txBody>
          <a:bodyPr wrap="square" lIns="0" tIns="0" rIns="0" bIns="0" rtlCol="0" anchor="t">
            <a:normAutofit/>
          </a:bodyPr>
          <a:lstStyle/>
          <a:p>
            <a:pPr>
              <a:lnSpc>
                <a:spcPts val="1680"/>
              </a:lnSpc>
            </a:pPr>
            <a:r>
              <a:rPr lang="en-US" sz="1200" dirty="0">
                <a:solidFill>
                  <a:srgbClr val="C9D3E2"/>
                </a:solidFill>
                <a:latin typeface="Be Vietnam Pro" pitchFamily="34" charset="0"/>
                <a:ea typeface="Be Vietnam Pro" pitchFamily="34" charset="-122"/>
                <a:cs typeface="Be Vietnam Pro" pitchFamily="34" charset="-120"/>
              </a:rPr>
              <a:t>Nhóm: Đỗ Văn Tiến (PM) · Mai Thành Khang · Đoàn Quang Anh · Đỗ Văn Phương · Mai Xuân Đạt </a:t>
            </a:r>
            <a:endParaRPr lang="en-US" sz="1200" dirty="0"/>
          </a:p>
        </p:txBody>
      </p:sp>
      <p:sp>
        <p:nvSpPr>
          <p:cNvPr id="8" name="Text 6"/>
          <p:cNvSpPr/>
          <p:nvPr/>
        </p:nvSpPr>
        <p:spPr>
          <a:xfrm>
            <a:off x="812800" y="5831880"/>
            <a:ext cx="713864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2"/>
                </a:solidFill>
                <a:latin typeface="Be Vietnam Pro" pitchFamily="34" charset="0"/>
                <a:ea typeface="Be Vietnam Pro" pitchFamily="34" charset="-122"/>
                <a:cs typeface="Be Vietnam Pro" pitchFamily="34" charset="-120"/>
              </a:rPr>
              <a:t>Lớp MICE 4A, 4B · Trường Quốc tế – ĐHQGHN</a:t>
            </a:r>
            <a:endParaRPr lang="en-US" sz="1200" dirty="0"/>
          </a:p>
        </p:txBody>
      </p:sp>
      <p:sp>
        <p:nvSpPr>
          <p:cNvPr id="9" name="Text 7"/>
          <p:cNvSpPr/>
          <p:nvPr/>
        </p:nvSpPr>
        <p:spPr>
          <a:xfrm>
            <a:off x="10304562" y="5796310"/>
            <a:ext cx="1125438"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E8A598"/>
                </a:solidFill>
                <a:latin typeface="Be Vietnam Pro" pitchFamily="34" charset="0"/>
                <a:ea typeface="Be Vietnam Pro" pitchFamily="34" charset="-122"/>
                <a:cs typeface="Be Vietnam Pro" pitchFamily="34" charset="-120"/>
              </a:rPr>
              <a:t>27/10/2026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23A2E"/>
                </a:solidFill>
                <a:latin typeface="Be Vietnam Pro" pitchFamily="34" charset="0"/>
                <a:ea typeface="Be Vietnam Pro" pitchFamily="34" charset="-122"/>
                <a:cs typeface="Be Vietnam Pro" pitchFamily="34" charset="-120"/>
              </a:rPr>
              <a:t>TỔNG QUAN TÀI LIỆU · BÀI TOÁN</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84B"/>
                </a:solidFill>
                <a:latin typeface="Be Vietnam Pro" pitchFamily="34" charset="0"/>
                <a:ea typeface="Be Vietnam Pro" pitchFamily="34" charset="-122"/>
                <a:cs typeface="Be Vietnam Pro" pitchFamily="34" charset="-120"/>
              </a:rPr>
              <a:t>Hồ sơ hành chính cấp xã vẫn xử lý thủ công</a:t>
            </a:r>
            <a:endParaRPr lang="en-US" sz="3200" dirty="0"/>
          </a:p>
        </p:txBody>
      </p:sp>
      <p:sp>
        <p:nvSpPr>
          <p:cNvPr id="4" name="Text 2"/>
          <p:cNvSpPr/>
          <p:nvPr/>
        </p:nvSpPr>
        <p:spPr>
          <a:xfrm>
            <a:off x="812800" y="1772841"/>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Be Vietnam Pro" pitchFamily="34" charset="0"/>
                <a:ea typeface="Be Vietnam Pro" pitchFamily="34" charset="-122"/>
                <a:cs typeface="Be Vietnam Pro" pitchFamily="34" charset="-120"/>
              </a:rPr>
              <a:t>Từ 01/7/2025, mô hình chính quyền địa phương hai cấp chuyển nhiều thủ tục về cấp xã/phường.</a:t>
            </a:r>
            <a:endParaRPr lang="en-US" sz="1400" dirty="0"/>
          </a:p>
        </p:txBody>
      </p:sp>
      <p:sp>
        <p:nvSpPr>
          <p:cNvPr id="5" name="Shape 3"/>
          <p:cNvSpPr/>
          <p:nvPr/>
        </p:nvSpPr>
        <p:spPr>
          <a:xfrm>
            <a:off x="815975" y="2228106"/>
            <a:ext cx="3380284" cy="2190601"/>
          </a:xfrm>
          <a:prstGeom prst="roundRect">
            <a:avLst>
              <a:gd name="adj" fmla="val 4493"/>
            </a:avLst>
          </a:prstGeom>
          <a:solidFill>
            <a:srgbClr val="FDFCFA"/>
          </a:solidFill>
          <a:ln w="6350">
            <a:solidFill>
              <a:srgbClr val="D9DDE3"/>
            </a:solidFill>
            <a:prstDash val="solid"/>
          </a:ln>
        </p:spPr>
        <p:txBody>
          <a:bodyPr/>
          <a:lstStyle/>
          <a:p>
            <a:endParaRPr lang="en-VN"/>
          </a:p>
        </p:txBody>
      </p:sp>
      <p:pic>
        <p:nvPicPr>
          <p:cNvPr id="6" name="Image 0" descr="Users"/>
          <p:cNvPicPr>
            <a:picLocks noChangeAspect="1"/>
          </p:cNvPicPr>
          <p:nvPr/>
        </p:nvPicPr>
        <p:blipFill>
          <a:blip r:embed="rId3"/>
          <a:srcRect/>
          <a:stretch/>
        </p:blipFill>
        <p:spPr>
          <a:xfrm>
            <a:off x="1022350" y="2434481"/>
            <a:ext cx="304800" cy="304800"/>
          </a:xfrm>
          <a:prstGeom prst="rect">
            <a:avLst/>
          </a:prstGeom>
        </p:spPr>
      </p:pic>
      <p:sp>
        <p:nvSpPr>
          <p:cNvPr id="7" name="Text 4"/>
          <p:cNvSpPr/>
          <p:nvPr/>
        </p:nvSpPr>
        <p:spPr>
          <a:xfrm>
            <a:off x="1022350" y="2840881"/>
            <a:ext cx="305656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84B"/>
                </a:solidFill>
                <a:latin typeface="Be Vietnam Pro" pitchFamily="34" charset="0"/>
                <a:ea typeface="Be Vietnam Pro" pitchFamily="34" charset="-122"/>
                <a:cs typeface="Be Vietnam Pro" pitchFamily="34" charset="-120"/>
              </a:rPr>
              <a:t>Người dân</a:t>
            </a:r>
            <a:endParaRPr lang="en-US" sz="1800" dirty="0"/>
          </a:p>
        </p:txBody>
      </p:sp>
      <p:sp>
        <p:nvSpPr>
          <p:cNvPr id="8" name="Text 5"/>
          <p:cNvSpPr/>
          <p:nvPr/>
        </p:nvSpPr>
        <p:spPr>
          <a:xfrm>
            <a:off x="1106932" y="3216771"/>
            <a:ext cx="2964358" cy="102096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3E4A5C"/>
                </a:solidFill>
                <a:latin typeface="Be Vietnam Pro" pitchFamily="34" charset="0"/>
                <a:ea typeface="Be Vietnam Pro" pitchFamily="34" charset="-122"/>
                <a:cs typeface="Be Vietnam Pro" pitchFamily="34" charset="-120"/>
              </a:rPr>
              <a:t>Phải đến trực tiếp nộp hồ sơ giấy</a:t>
            </a:r>
            <a:endParaRPr lang="en-US" sz="1400" dirty="0"/>
          </a:p>
          <a:p>
            <a:pPr marL="169418" indent="-169418" algn="l">
              <a:lnSpc>
                <a:spcPts val="1960"/>
              </a:lnSpc>
              <a:buSzPct val="100000"/>
              <a:buChar char="•"/>
            </a:pPr>
            <a:r>
              <a:rPr lang="en-US" sz="1400" dirty="0">
                <a:solidFill>
                  <a:srgbClr val="3E4A5C"/>
                </a:solidFill>
                <a:latin typeface="Be Vietnam Pro" pitchFamily="34" charset="0"/>
                <a:ea typeface="Be Vietnam Pro" pitchFamily="34" charset="-122"/>
                <a:cs typeface="Be Vietnam Pro" pitchFamily="34" charset="-120"/>
              </a:rPr>
              <a:t>Không biết hồ sơ đang ở bước nào</a:t>
            </a:r>
            <a:endParaRPr lang="en-US" sz="1400" dirty="0"/>
          </a:p>
        </p:txBody>
      </p:sp>
      <p:sp>
        <p:nvSpPr>
          <p:cNvPr id="9" name="Shape 6"/>
          <p:cNvSpPr/>
          <p:nvPr/>
        </p:nvSpPr>
        <p:spPr>
          <a:xfrm>
            <a:off x="4405809" y="2228106"/>
            <a:ext cx="3380333" cy="2190601"/>
          </a:xfrm>
          <a:prstGeom prst="roundRect">
            <a:avLst>
              <a:gd name="adj" fmla="val 4493"/>
            </a:avLst>
          </a:prstGeom>
          <a:solidFill>
            <a:srgbClr val="FDFCFA"/>
          </a:solidFill>
          <a:ln w="6350">
            <a:solidFill>
              <a:srgbClr val="D9DDE3"/>
            </a:solidFill>
            <a:prstDash val="solid"/>
          </a:ln>
        </p:spPr>
        <p:txBody>
          <a:bodyPr/>
          <a:lstStyle/>
          <a:p>
            <a:endParaRPr lang="en-VN"/>
          </a:p>
        </p:txBody>
      </p:sp>
      <p:pic>
        <p:nvPicPr>
          <p:cNvPr id="10" name="Image 1" descr="Database"/>
          <p:cNvPicPr>
            <a:picLocks noChangeAspect="1"/>
          </p:cNvPicPr>
          <p:nvPr/>
        </p:nvPicPr>
        <p:blipFill>
          <a:blip r:embed="rId4"/>
          <a:srcRect/>
          <a:stretch/>
        </p:blipFill>
        <p:spPr>
          <a:xfrm>
            <a:off x="4612184" y="2434481"/>
            <a:ext cx="304800" cy="304800"/>
          </a:xfrm>
          <a:prstGeom prst="rect">
            <a:avLst/>
          </a:prstGeom>
        </p:spPr>
      </p:pic>
      <p:sp>
        <p:nvSpPr>
          <p:cNvPr id="11" name="Text 7"/>
          <p:cNvSpPr/>
          <p:nvPr/>
        </p:nvSpPr>
        <p:spPr>
          <a:xfrm>
            <a:off x="4612184" y="2840881"/>
            <a:ext cx="3056611"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84B"/>
                </a:solidFill>
                <a:latin typeface="Be Vietnam Pro" pitchFamily="34" charset="0"/>
                <a:ea typeface="Be Vietnam Pro" pitchFamily="34" charset="-122"/>
                <a:cs typeface="Be Vietnam Pro" pitchFamily="34" charset="-120"/>
              </a:rPr>
              <a:t>Cán bộ một cửa</a:t>
            </a:r>
            <a:endParaRPr lang="en-US" sz="1800" dirty="0"/>
          </a:p>
        </p:txBody>
      </p:sp>
      <p:sp>
        <p:nvSpPr>
          <p:cNvPr id="12" name="Text 8"/>
          <p:cNvSpPr/>
          <p:nvPr/>
        </p:nvSpPr>
        <p:spPr>
          <a:xfrm>
            <a:off x="4696766" y="3216771"/>
            <a:ext cx="2964409" cy="77207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3E4A5C"/>
                </a:solidFill>
                <a:latin typeface="Be Vietnam Pro" pitchFamily="34" charset="0"/>
                <a:ea typeface="Be Vietnam Pro" pitchFamily="34" charset="-122"/>
                <a:cs typeface="Be Vietnam Pro" pitchFamily="34" charset="-120"/>
              </a:rPr>
              <a:t>Khối lượng hồ sơ tăng mạnh</a:t>
            </a:r>
            <a:endParaRPr lang="en-US" sz="1400" dirty="0"/>
          </a:p>
          <a:p>
            <a:pPr marL="169418" indent="-169418" algn="l">
              <a:lnSpc>
                <a:spcPts val="1960"/>
              </a:lnSpc>
              <a:buSzPct val="100000"/>
              <a:buChar char="•"/>
            </a:pPr>
            <a:r>
              <a:rPr lang="en-US" sz="1400" dirty="0">
                <a:solidFill>
                  <a:srgbClr val="3E4A5C"/>
                </a:solidFill>
                <a:latin typeface="Be Vietnam Pro" pitchFamily="34" charset="0"/>
                <a:ea typeface="Be Vietnam Pro" pitchFamily="34" charset="-122"/>
                <a:cs typeface="Be Vietnam Pro" pitchFamily="34" charset="-120"/>
              </a:rPr>
              <a:t>Theo dõi bằng sổ và bảng tính, dễ sót hạn</a:t>
            </a:r>
            <a:endParaRPr lang="en-US" sz="1400" dirty="0"/>
          </a:p>
        </p:txBody>
      </p:sp>
      <p:sp>
        <p:nvSpPr>
          <p:cNvPr id="13" name="Shape 9"/>
          <p:cNvSpPr/>
          <p:nvPr/>
        </p:nvSpPr>
        <p:spPr>
          <a:xfrm>
            <a:off x="7995692" y="2228106"/>
            <a:ext cx="3380333" cy="2190601"/>
          </a:xfrm>
          <a:prstGeom prst="roundRect">
            <a:avLst>
              <a:gd name="adj" fmla="val 4493"/>
            </a:avLst>
          </a:prstGeom>
          <a:solidFill>
            <a:srgbClr val="FDFCFA"/>
          </a:solidFill>
          <a:ln w="6350">
            <a:solidFill>
              <a:srgbClr val="D9DDE3"/>
            </a:solidFill>
            <a:prstDash val="solid"/>
          </a:ln>
        </p:spPr>
        <p:txBody>
          <a:bodyPr/>
          <a:lstStyle/>
          <a:p>
            <a:endParaRPr lang="en-VN"/>
          </a:p>
        </p:txBody>
      </p:sp>
      <p:pic>
        <p:nvPicPr>
          <p:cNvPr id="14" name="Image 2" descr="Chart"/>
          <p:cNvPicPr>
            <a:picLocks noChangeAspect="1"/>
          </p:cNvPicPr>
          <p:nvPr/>
        </p:nvPicPr>
        <p:blipFill>
          <a:blip r:embed="rId5"/>
          <a:srcRect/>
          <a:stretch/>
        </p:blipFill>
        <p:spPr>
          <a:xfrm>
            <a:off x="8202067" y="2434481"/>
            <a:ext cx="304800" cy="304800"/>
          </a:xfrm>
          <a:prstGeom prst="rect">
            <a:avLst/>
          </a:prstGeom>
        </p:spPr>
      </p:pic>
      <p:sp>
        <p:nvSpPr>
          <p:cNvPr id="15" name="Text 10"/>
          <p:cNvSpPr/>
          <p:nvPr/>
        </p:nvSpPr>
        <p:spPr>
          <a:xfrm>
            <a:off x="8202067" y="2840881"/>
            <a:ext cx="3056611"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84B"/>
                </a:solidFill>
                <a:latin typeface="Be Vietnam Pro" pitchFamily="34" charset="0"/>
                <a:ea typeface="Be Vietnam Pro" pitchFamily="34" charset="-122"/>
                <a:cs typeface="Be Vietnam Pro" pitchFamily="34" charset="-120"/>
              </a:rPr>
              <a:t>Lãnh đạo xã</a:t>
            </a:r>
            <a:endParaRPr lang="en-US" sz="1800" dirty="0"/>
          </a:p>
        </p:txBody>
      </p:sp>
      <p:sp>
        <p:nvSpPr>
          <p:cNvPr id="16" name="Text 11"/>
          <p:cNvSpPr/>
          <p:nvPr/>
        </p:nvSpPr>
        <p:spPr>
          <a:xfrm>
            <a:off x="8286649" y="3216771"/>
            <a:ext cx="2964409" cy="77207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3E4A5C"/>
                </a:solidFill>
                <a:latin typeface="Be Vietnam Pro" pitchFamily="34" charset="0"/>
                <a:ea typeface="Be Vietnam Pro" pitchFamily="34" charset="-122"/>
                <a:cs typeface="Be Vietnam Pro" pitchFamily="34" charset="-120"/>
              </a:rPr>
              <a:t>Thiếu số liệu đúng hạn, trễ hạn</a:t>
            </a:r>
            <a:endParaRPr lang="en-US" sz="1400" dirty="0"/>
          </a:p>
          <a:p>
            <a:pPr marL="169418" indent="-169418" algn="l">
              <a:lnSpc>
                <a:spcPts val="1960"/>
              </a:lnSpc>
              <a:buSzPct val="100000"/>
              <a:buChar char="•"/>
            </a:pPr>
            <a:r>
              <a:rPr lang="en-US" sz="1400" dirty="0">
                <a:solidFill>
                  <a:srgbClr val="3E4A5C"/>
                </a:solidFill>
                <a:latin typeface="Be Vietnam Pro" pitchFamily="34" charset="0"/>
                <a:ea typeface="Be Vietnam Pro" pitchFamily="34" charset="-122"/>
                <a:cs typeface="Be Vietnam Pro" pitchFamily="34" charset="-120"/>
              </a:rPr>
              <a:t>Khó điều phối và phát hiện điểm nghẽn</a:t>
            </a:r>
            <a:endParaRPr lang="en-US" sz="1400" dirty="0"/>
          </a:p>
        </p:txBody>
      </p:sp>
      <p:sp>
        <p:nvSpPr>
          <p:cNvPr id="17" name="Text 12"/>
          <p:cNvSpPr/>
          <p:nvPr/>
        </p:nvSpPr>
        <p:spPr>
          <a:xfrm>
            <a:off x="812800" y="4625082"/>
            <a:ext cx="10566400" cy="838200"/>
          </a:xfrm>
          <a:prstGeom prst="roundRect">
            <a:avLst>
              <a:gd name="adj" fmla="val 6061"/>
            </a:avLst>
          </a:prstGeom>
          <a:solidFill>
            <a:srgbClr val="E7ECF3"/>
          </a:solidFill>
          <a:ln/>
        </p:spPr>
        <p:txBody>
          <a:bodyPr wrap="square" lIns="239121" tIns="137521" rIns="0" bIns="112121" rtlCol="0" anchor="t">
            <a:normAutofit/>
          </a:bodyPr>
          <a:lstStyle/>
          <a:p>
            <a:pPr marL="0" indent="0" algn="l">
              <a:lnSpc>
                <a:spcPts val="2100"/>
              </a:lnSpc>
              <a:buNone/>
            </a:pPr>
            <a:r>
              <a:rPr lang="en-US" sz="1500" b="1" dirty="0">
                <a:solidFill>
                  <a:srgbClr val="14284B"/>
                </a:solidFill>
                <a:latin typeface="Be Vietnam Pro" pitchFamily="34" charset="0"/>
                <a:ea typeface="Be Vietnam Pro" pitchFamily="34" charset="-122"/>
                <a:cs typeface="Be Vietnam Pro" pitchFamily="34" charset="-120"/>
              </a:rPr>
              <a:t>Giải pháp e-HoSo: một hệ thống thống nhất để người dân nộp và theo dõi hồ sơ trực tuyến, cán bộ xử lý và lãnh đạo giám sát.</a:t>
            </a:r>
            <a:endParaRPr lang="en-US" sz="1500" dirty="0"/>
          </a:p>
        </p:txBody>
      </p:sp>
      <p:sp>
        <p:nvSpPr>
          <p:cNvPr id="18" name="Shape 13"/>
          <p:cNvSpPr/>
          <p:nvPr/>
        </p:nvSpPr>
        <p:spPr>
          <a:xfrm>
            <a:off x="812800" y="4625082"/>
            <a:ext cx="10566400" cy="838200"/>
          </a:xfrm>
          <a:custGeom>
            <a:avLst/>
            <a:gdLst/>
            <a:ahLst/>
            <a:cxnLst/>
            <a:rect l="l" t="t" r="r" b="b"/>
            <a:pathLst>
              <a:path w="10566400" h="838200">
                <a:moveTo>
                  <a:pt x="50800" y="838200"/>
                </a:moveTo>
                <a:lnTo>
                  <a:pt x="50800" y="838200"/>
                </a:lnTo>
                <a:arcTo wR="50800" hR="50800" stAng="5400000" swAng="5400000"/>
                <a:lnTo>
                  <a:pt x="0" y="50800"/>
                </a:lnTo>
                <a:arcTo wR="50800" hR="50800" stAng="10800000" swAng="5400000"/>
                <a:lnTo>
                  <a:pt x="50800" y="0"/>
                </a:lnTo>
                <a:lnTo>
                  <a:pt x="50800" y="838200"/>
                </a:lnTo>
                <a:close/>
              </a:path>
            </a:pathLst>
          </a:custGeom>
          <a:solidFill>
            <a:srgbClr val="B23A2E"/>
          </a:solidFill>
          <a:ln/>
        </p:spPr>
        <p:txBody>
          <a:bodyPr/>
          <a:lstStyle/>
          <a:p>
            <a:endParaRPr lang="en-VN"/>
          </a:p>
        </p:txBody>
      </p:sp>
      <p:sp>
        <p:nvSpPr>
          <p:cNvPr id="19"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e-HoSo · Project Plan · Nhóm INS6021</a:t>
            </a:r>
            <a:endParaRPr lang="en-US" sz="1200" dirty="0"/>
          </a:p>
        </p:txBody>
      </p:sp>
      <p:sp>
        <p:nvSpPr>
          <p:cNvPr id="20" name="Text 1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F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23A2E"/>
                </a:solidFill>
                <a:latin typeface="Be Vietnam Pro" pitchFamily="34" charset="0"/>
                <a:ea typeface="Be Vietnam Pro" pitchFamily="34" charset="-122"/>
                <a:cs typeface="Be Vietnam Pro" pitchFamily="34" charset="-120"/>
              </a:rPr>
              <a:t>TỔNG QUAN TÀI LIỆU · MỤC TIÊU VÀ PHẠM VI</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84B"/>
                </a:solidFill>
                <a:latin typeface="Be Vietnam Pro" pitchFamily="34" charset="0"/>
                <a:ea typeface="Be Vietnam Pro" pitchFamily="34" charset="-122"/>
                <a:cs typeface="Be Vietnam Pro" pitchFamily="34" charset="-120"/>
              </a:rPr>
              <a:t>Mục tiêu và phạm vi MVP</a:t>
            </a:r>
            <a:endParaRPr lang="en-US" sz="3200" dirty="0"/>
          </a:p>
        </p:txBody>
      </p:sp>
      <p:sp>
        <p:nvSpPr>
          <p:cNvPr id="4" name="Text 2"/>
          <p:cNvSpPr/>
          <p:nvPr/>
        </p:nvSpPr>
        <p:spPr>
          <a:xfrm>
            <a:off x="812800" y="1772841"/>
            <a:ext cx="528472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84B"/>
                </a:solidFill>
                <a:latin typeface="Be Vietnam Pro" pitchFamily="34" charset="0"/>
                <a:ea typeface="Be Vietnam Pro" pitchFamily="34" charset="-122"/>
                <a:cs typeface="Be Vietnam Pro" pitchFamily="34" charset="-120"/>
              </a:rPr>
              <a:t>4 mục tiêu</a:t>
            </a:r>
            <a:endParaRPr lang="en-US" sz="1600" dirty="0"/>
          </a:p>
        </p:txBody>
      </p:sp>
      <p:sp>
        <p:nvSpPr>
          <p:cNvPr id="5" name="Text 3"/>
          <p:cNvSpPr/>
          <p:nvPr/>
        </p:nvSpPr>
        <p:spPr>
          <a:xfrm>
            <a:off x="848767" y="2169071"/>
            <a:ext cx="5241137" cy="2016522"/>
          </a:xfrm>
          <a:prstGeom prst="rect">
            <a:avLst/>
          </a:prstGeom>
          <a:noFill/>
          <a:ln/>
        </p:spPr>
        <p:txBody>
          <a:bodyPr wrap="square" lIns="0" tIns="0" rIns="0" bIns="0" rtlCol="0" anchor="t">
            <a:normAutofit/>
          </a:bodyPr>
          <a:lstStyle/>
          <a:p>
            <a:pPr marL="218033" indent="-218033" algn="l">
              <a:lnSpc>
                <a:spcPts val="1960"/>
              </a:lnSpc>
              <a:buSzPct val="100000"/>
              <a:buFontTx/>
              <a:buAutoNum type="arabicPeriod"/>
            </a:pPr>
            <a:r>
              <a:rPr lang="en-US" sz="1400" dirty="0">
                <a:solidFill>
                  <a:srgbClr val="3E4A5C"/>
                </a:solidFill>
                <a:latin typeface="Be Vietnam Pro" pitchFamily="34" charset="0"/>
                <a:ea typeface="Be Vietnam Pro" pitchFamily="34" charset="-122"/>
                <a:cs typeface="Be Vietnam Pro" pitchFamily="34" charset="-120"/>
              </a:rPr>
              <a:t>Số hóa toàn trình 3 thủ tục tư pháp – hộ tịch: chứng thực bản sao, đăng ký khai sinh, xác nhận tình trạng hôn nhân</a:t>
            </a:r>
            <a:endParaRPr lang="en-US" sz="1400" dirty="0"/>
          </a:p>
          <a:p>
            <a:pPr marL="218033" indent="-218033" algn="l">
              <a:lnSpc>
                <a:spcPts val="1960"/>
              </a:lnSpc>
              <a:buSzPct val="100000"/>
              <a:buFontTx/>
              <a:buAutoNum type="arabicPeriod"/>
            </a:pPr>
            <a:r>
              <a:rPr lang="en-US" sz="1400" dirty="0">
                <a:solidFill>
                  <a:srgbClr val="3E4A5C"/>
                </a:solidFill>
                <a:latin typeface="Be Vietnam Pro" pitchFamily="34" charset="0"/>
                <a:ea typeface="Be Vietnam Pro" pitchFamily="34" charset="-122"/>
                <a:cs typeface="Be Vietnam Pro" pitchFamily="34" charset="-120"/>
              </a:rPr>
              <a:t>Tra cứu trạng thái theo mã hồ sơ, thông báo qua email</a:t>
            </a:r>
            <a:endParaRPr lang="en-US" sz="1400" dirty="0"/>
          </a:p>
          <a:p>
            <a:pPr marL="218033" indent="-218033" algn="l">
              <a:lnSpc>
                <a:spcPts val="1960"/>
              </a:lnSpc>
              <a:buSzPct val="100000"/>
              <a:buFontTx/>
              <a:buAutoNum type="arabicPeriod"/>
            </a:pPr>
            <a:r>
              <a:rPr lang="en-US" sz="1400" dirty="0">
                <a:solidFill>
                  <a:srgbClr val="3E4A5C"/>
                </a:solidFill>
                <a:latin typeface="Be Vietnam Pro" pitchFamily="34" charset="0"/>
                <a:ea typeface="Be Vietnam Pro" pitchFamily="34" charset="-122"/>
                <a:cs typeface="Be Vietnam Pro" pitchFamily="34" charset="-120"/>
              </a:rPr>
              <a:t>Dashboard hồ sơ đúng hạn, trễ hạn theo cán bộ và thủ tục</a:t>
            </a:r>
            <a:endParaRPr lang="en-US" sz="1400" dirty="0"/>
          </a:p>
          <a:p>
            <a:pPr marL="218033" indent="-218033" algn="l">
              <a:lnSpc>
                <a:spcPts val="1960"/>
              </a:lnSpc>
              <a:buSzPct val="100000"/>
              <a:buFontTx/>
              <a:buAutoNum type="arabicPeriod"/>
            </a:pPr>
            <a:r>
              <a:rPr lang="en-US" sz="1400" dirty="0">
                <a:solidFill>
                  <a:srgbClr val="3E4A5C"/>
                </a:solidFill>
                <a:latin typeface="Be Vietnam Pro" pitchFamily="34" charset="0"/>
                <a:ea typeface="Be Vietnam Pro" pitchFamily="34" charset="-122"/>
                <a:cs typeface="Be Vietnam Pro" pitchFamily="34" charset="-120"/>
              </a:rPr>
              <a:t>Vận dụng đầy đủ quy trình phát triển phần mềm của học phần</a:t>
            </a:r>
            <a:endParaRPr lang="en-US" sz="1400" dirty="0"/>
          </a:p>
        </p:txBody>
      </p:sp>
      <p:sp>
        <p:nvSpPr>
          <p:cNvPr id="6" name="Text 4"/>
          <p:cNvSpPr/>
          <p:nvPr/>
        </p:nvSpPr>
        <p:spPr>
          <a:xfrm>
            <a:off x="812800" y="4312593"/>
            <a:ext cx="52847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Toàn bộ dữ liệu dùng trong dự án là dữ liệu giả lập.</a:t>
            </a:r>
            <a:endParaRPr lang="en-US" sz="1200" dirty="0"/>
          </a:p>
        </p:txBody>
      </p:sp>
      <p:sp>
        <p:nvSpPr>
          <p:cNvPr id="7" name="Shape 5"/>
          <p:cNvSpPr/>
          <p:nvPr/>
        </p:nvSpPr>
        <p:spPr>
          <a:xfrm>
            <a:off x="6254750" y="1779191"/>
            <a:ext cx="5118100" cy="1612850"/>
          </a:xfrm>
          <a:prstGeom prst="roundRect">
            <a:avLst>
              <a:gd name="adj" fmla="val 5906"/>
            </a:avLst>
          </a:prstGeom>
          <a:solidFill>
            <a:srgbClr val="FDFCFA"/>
          </a:solidFill>
          <a:ln w="12700">
            <a:solidFill>
              <a:srgbClr val="2F6DB5"/>
            </a:solidFill>
            <a:prstDash val="solid"/>
          </a:ln>
        </p:spPr>
        <p:txBody>
          <a:bodyPr/>
          <a:lstStyle/>
          <a:p>
            <a:endParaRPr lang="en-VN"/>
          </a:p>
        </p:txBody>
      </p:sp>
      <p:sp>
        <p:nvSpPr>
          <p:cNvPr id="8" name="Text 6"/>
          <p:cNvSpPr/>
          <p:nvPr/>
        </p:nvSpPr>
        <p:spPr>
          <a:xfrm>
            <a:off x="6464300" y="1963341"/>
            <a:ext cx="483997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5596"/>
                </a:solidFill>
                <a:latin typeface="Be Vietnam Pro" pitchFamily="34" charset="0"/>
                <a:ea typeface="Be Vietnam Pro" pitchFamily="34" charset="-122"/>
                <a:cs typeface="Be Vietnam Pro" pitchFamily="34" charset="-120"/>
              </a:rPr>
              <a:t>Trong phạm vi</a:t>
            </a:r>
            <a:endParaRPr lang="en-US" sz="1600" dirty="0"/>
          </a:p>
        </p:txBody>
      </p:sp>
      <p:sp>
        <p:nvSpPr>
          <p:cNvPr id="9" name="Text 7"/>
          <p:cNvSpPr/>
          <p:nvPr/>
        </p:nvSpPr>
        <p:spPr>
          <a:xfrm>
            <a:off x="6555994" y="2283371"/>
            <a:ext cx="4740656" cy="949920"/>
          </a:xfrm>
          <a:prstGeom prst="rect">
            <a:avLst/>
          </a:prstGeom>
          <a:noFill/>
          <a:ln/>
        </p:spPr>
        <p:txBody>
          <a:bodyPr wrap="square" lIns="0" tIns="0" rIns="0" bIns="0" rtlCol="0" anchor="t">
            <a:normAutofit/>
          </a:bodyPr>
          <a:lstStyle/>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Cổng người dân: đăng ký, nộp hồ sơ, tra cứu</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Phân hệ cán bộ: tiếp nhận, phân công, trả kết quả</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Phân quyền 4 vai trò, nhật ký thao tác</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Thông báo email, dashboard thống kê</a:t>
            </a:r>
            <a:endParaRPr lang="en-US" sz="1300" dirty="0"/>
          </a:p>
        </p:txBody>
      </p:sp>
      <p:sp>
        <p:nvSpPr>
          <p:cNvPr id="10" name="Shape 8"/>
          <p:cNvSpPr/>
          <p:nvPr/>
        </p:nvSpPr>
        <p:spPr>
          <a:xfrm>
            <a:off x="6251575" y="3553966"/>
            <a:ext cx="5124450" cy="1606500"/>
          </a:xfrm>
          <a:prstGeom prst="roundRect">
            <a:avLst>
              <a:gd name="adj" fmla="val 6127"/>
            </a:avLst>
          </a:prstGeom>
          <a:solidFill>
            <a:srgbClr val="FDFCFA"/>
          </a:solidFill>
          <a:ln w="6350">
            <a:solidFill>
              <a:srgbClr val="8A97A8"/>
            </a:solidFill>
            <a:prstDash val="dash"/>
          </a:ln>
        </p:spPr>
        <p:txBody>
          <a:bodyPr/>
          <a:lstStyle/>
          <a:p>
            <a:endParaRPr lang="en-VN"/>
          </a:p>
        </p:txBody>
      </p:sp>
      <p:sp>
        <p:nvSpPr>
          <p:cNvPr id="11" name="Text 9"/>
          <p:cNvSpPr/>
          <p:nvPr/>
        </p:nvSpPr>
        <p:spPr>
          <a:xfrm>
            <a:off x="6457950" y="3734941"/>
            <a:ext cx="485305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5A6678"/>
                </a:solidFill>
                <a:latin typeface="Be Vietnam Pro" pitchFamily="34" charset="0"/>
                <a:ea typeface="Be Vietnam Pro" pitchFamily="34" charset="-122"/>
                <a:cs typeface="Be Vietnam Pro" pitchFamily="34" charset="-120"/>
              </a:rPr>
              <a:t>Ngoài phạm vi</a:t>
            </a:r>
            <a:endParaRPr lang="en-US" sz="1600" dirty="0"/>
          </a:p>
        </p:txBody>
      </p:sp>
      <p:sp>
        <p:nvSpPr>
          <p:cNvPr id="12" name="Text 10"/>
          <p:cNvSpPr/>
          <p:nvPr/>
        </p:nvSpPr>
        <p:spPr>
          <a:xfrm>
            <a:off x="6549644" y="4054971"/>
            <a:ext cx="4753737" cy="949920"/>
          </a:xfrm>
          <a:prstGeom prst="rect">
            <a:avLst/>
          </a:prstGeom>
          <a:noFill/>
          <a:ln/>
        </p:spPr>
        <p:txBody>
          <a:bodyPr wrap="square" lIns="0" tIns="0" rIns="0" bIns="0" rtlCol="0" anchor="t">
            <a:normAutofit/>
          </a:bodyPr>
          <a:lstStyle/>
          <a:p>
            <a:pPr marL="162306" indent="-162306" algn="l">
              <a:lnSpc>
                <a:spcPts val="1820"/>
              </a:lnSpc>
              <a:buSzPct val="100000"/>
              <a:buChar char="•"/>
            </a:pPr>
            <a:r>
              <a:rPr lang="en-US" sz="1300" dirty="0">
                <a:solidFill>
                  <a:srgbClr val="5A6678"/>
                </a:solidFill>
                <a:latin typeface="Be Vietnam Pro" pitchFamily="34" charset="0"/>
                <a:ea typeface="Be Vietnam Pro" pitchFamily="34" charset="-122"/>
                <a:cs typeface="Be Vietnam Pro" pitchFamily="34" charset="-120"/>
              </a:rPr>
              <a:t>Kết nối thật với Cổng DVC quốc gia, VNeID</a:t>
            </a:r>
            <a:endParaRPr lang="en-US" sz="1300" dirty="0"/>
          </a:p>
          <a:p>
            <a:pPr marL="162306" indent="-162306" algn="l">
              <a:lnSpc>
                <a:spcPts val="1820"/>
              </a:lnSpc>
              <a:buSzPct val="100000"/>
              <a:buChar char="•"/>
            </a:pPr>
            <a:r>
              <a:rPr lang="en-US" sz="1300" dirty="0">
                <a:solidFill>
                  <a:srgbClr val="5A6678"/>
                </a:solidFill>
                <a:latin typeface="Be Vietnam Pro" pitchFamily="34" charset="0"/>
                <a:ea typeface="Be Vietnam Pro" pitchFamily="34" charset="-122"/>
                <a:cs typeface="Be Vietnam Pro" pitchFamily="34" charset="-120"/>
              </a:rPr>
              <a:t>Thanh toán phí, lệ phí trực tuyến</a:t>
            </a:r>
            <a:endParaRPr lang="en-US" sz="1300" dirty="0"/>
          </a:p>
          <a:p>
            <a:pPr marL="162306" indent="-162306" algn="l">
              <a:lnSpc>
                <a:spcPts val="1820"/>
              </a:lnSpc>
              <a:buSzPct val="100000"/>
              <a:buChar char="•"/>
            </a:pPr>
            <a:r>
              <a:rPr lang="en-US" sz="1300" dirty="0">
                <a:solidFill>
                  <a:srgbClr val="5A6678"/>
                </a:solidFill>
                <a:latin typeface="Be Vietnam Pro" pitchFamily="34" charset="0"/>
                <a:ea typeface="Be Vietnam Pro" pitchFamily="34" charset="-122"/>
                <a:cs typeface="Be Vietnam Pro" pitchFamily="34" charset="-120"/>
              </a:rPr>
              <a:t>Ký số thật (chỉ mô phỏng bước ký)</a:t>
            </a:r>
            <a:endParaRPr lang="en-US" sz="1300" dirty="0"/>
          </a:p>
          <a:p>
            <a:pPr marL="162306" indent="-162306" algn="l">
              <a:lnSpc>
                <a:spcPts val="1820"/>
              </a:lnSpc>
              <a:buSzPct val="100000"/>
              <a:buChar char="•"/>
            </a:pPr>
            <a:r>
              <a:rPr lang="en-US" sz="1300" dirty="0">
                <a:solidFill>
                  <a:srgbClr val="5A6678"/>
                </a:solidFill>
                <a:latin typeface="Be Vietnam Pro" pitchFamily="34" charset="0"/>
                <a:ea typeface="Be Vietnam Pro" pitchFamily="34" charset="-122"/>
                <a:cs typeface="Be Vietnam Pro" pitchFamily="34" charset="-120"/>
              </a:rPr>
              <a:t>Ứng dụng di động gốc</a:t>
            </a:r>
            <a:endParaRPr lang="en-US" sz="13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e-HoSo · Project Plan · Nhóm INS6021</a:t>
            </a:r>
            <a:endParaRPr lang="en-US" sz="1200" dirty="0"/>
          </a:p>
        </p:txBody>
      </p:sp>
      <p:sp>
        <p:nvSpPr>
          <p:cNvPr id="14" name="Text 1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23A2E"/>
                </a:solidFill>
                <a:latin typeface="Be Vietnam Pro" pitchFamily="34" charset="0"/>
                <a:ea typeface="Be Vietnam Pro" pitchFamily="34" charset="-122"/>
                <a:cs typeface="Be Vietnam Pro" pitchFamily="34" charset="-120"/>
              </a:rPr>
              <a:t>KẾ HOẠCH QUẢN LÝ · CƠ CẤU NHÓM</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84B"/>
                </a:solidFill>
                <a:latin typeface="Be Vietnam Pro" pitchFamily="34" charset="0"/>
                <a:ea typeface="Be Vietnam Pro" pitchFamily="34" charset="-122"/>
                <a:cs typeface="Be Vietnam Pro" pitchFamily="34" charset="-120"/>
              </a:rPr>
              <a:t>5 vai trò, đóng góp như nhau</a:t>
            </a:r>
            <a:endParaRPr lang="en-US" sz="3200" dirty="0"/>
          </a:p>
        </p:txBody>
      </p:sp>
      <p:sp>
        <p:nvSpPr>
          <p:cNvPr id="4" name="Shape 2"/>
          <p:cNvSpPr/>
          <p:nvPr/>
        </p:nvSpPr>
        <p:spPr>
          <a:xfrm>
            <a:off x="812800" y="1823641"/>
            <a:ext cx="10566400" cy="3075384"/>
          </a:xfrm>
          <a:prstGeom prst="rect">
            <a:avLst/>
          </a:prstGeom>
          <a:solidFill>
            <a:srgbClr val="FDFCFA"/>
          </a:solidFill>
          <a:ln/>
        </p:spPr>
        <p:txBody>
          <a:bodyPr/>
          <a:lstStyle/>
          <a:p>
            <a:endParaRPr lang="en-VN"/>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36341"/>
          <a:ext cx="10553700" cy="3062685"/>
        </p:xfrm>
        <a:graphic>
          <a:graphicData uri="http://schemas.openxmlformats.org/drawingml/2006/table">
            <a:tbl>
              <a:tblPr/>
              <a:tblGrid>
                <a:gridCol w="1688592">
                  <a:extLst>
                    <a:ext uri="{9D8B030D-6E8A-4147-A177-3AD203B41FA5}">
                      <a16:colId xmlns:a16="http://schemas.microsoft.com/office/drawing/2014/main" val="20000"/>
                    </a:ext>
                  </a:extLst>
                </a:gridCol>
                <a:gridCol w="2005203">
                  <a:extLst>
                    <a:ext uri="{9D8B030D-6E8A-4147-A177-3AD203B41FA5}">
                      <a16:colId xmlns:a16="http://schemas.microsoft.com/office/drawing/2014/main" val="20001"/>
                    </a:ext>
                  </a:extLst>
                </a:gridCol>
                <a:gridCol w="4115943">
                  <a:extLst>
                    <a:ext uri="{9D8B030D-6E8A-4147-A177-3AD203B41FA5}">
                      <a16:colId xmlns:a16="http://schemas.microsoft.com/office/drawing/2014/main" val="20002"/>
                    </a:ext>
                  </a:extLst>
                </a:gridCol>
                <a:gridCol w="738759">
                  <a:extLst>
                    <a:ext uri="{9D8B030D-6E8A-4147-A177-3AD203B41FA5}">
                      <a16:colId xmlns:a16="http://schemas.microsoft.com/office/drawing/2014/main" val="20003"/>
                    </a:ext>
                  </a:extLst>
                </a:gridCol>
                <a:gridCol w="738759">
                  <a:extLst>
                    <a:ext uri="{9D8B030D-6E8A-4147-A177-3AD203B41FA5}">
                      <a16:colId xmlns:a16="http://schemas.microsoft.com/office/drawing/2014/main" val="20004"/>
                    </a:ext>
                  </a:extLst>
                </a:gridCol>
                <a:gridCol w="1266444">
                  <a:extLst>
                    <a:ext uri="{9D8B030D-6E8A-4147-A177-3AD203B41FA5}">
                      <a16:colId xmlns:a16="http://schemas.microsoft.com/office/drawing/2014/main" val="20005"/>
                    </a:ext>
                  </a:extLst>
                </a:gridCol>
              </a:tblGrid>
              <a:tr h="332680">
                <a:tc>
                  <a:txBody>
                    <a:bodyPr/>
                    <a:lstStyle/>
                    <a:p>
                      <a:pPr marL="0" indent="0">
                        <a:lnSpc>
                          <a:spcPts val="1680"/>
                        </a:lnSpc>
                        <a:buNone/>
                      </a:pPr>
                      <a:r>
                        <a:rPr lang="en-US" sz="1200" b="1" dirty="0">
                          <a:solidFill>
                            <a:srgbClr val="14284B"/>
                          </a:solidFill>
                          <a:latin typeface="Be Vietnam Pro" pitchFamily="34" charset="0"/>
                          <a:ea typeface="Be Vietnam Pro" pitchFamily="34" charset="-122"/>
                          <a:cs typeface="Be Vietnam Pro" pitchFamily="34" charset="-120"/>
                        </a:rPr>
                        <a:t>Thành viên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nSpc>
                          <a:spcPts val="1680"/>
                        </a:lnSpc>
                        <a:buNone/>
                      </a:pPr>
                      <a:r>
                        <a:rPr lang="en-US" sz="1200" b="1" dirty="0">
                          <a:solidFill>
                            <a:srgbClr val="14284B"/>
                          </a:solidFill>
                          <a:latin typeface="Be Vietnam Pro" pitchFamily="34" charset="0"/>
                          <a:ea typeface="Be Vietnam Pro" pitchFamily="34" charset="-122"/>
                          <a:cs typeface="Be Vietnam Pro" pitchFamily="34" charset="-120"/>
                        </a:rPr>
                        <a:t>Vai trò chính</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nSpc>
                          <a:spcPts val="1680"/>
                        </a:lnSpc>
                        <a:buNone/>
                      </a:pPr>
                      <a:r>
                        <a:rPr lang="en-US" sz="1200" b="1" dirty="0">
                          <a:solidFill>
                            <a:srgbClr val="14284B"/>
                          </a:solidFill>
                          <a:latin typeface="Be Vietnam Pro" pitchFamily="34" charset="0"/>
                          <a:ea typeface="Be Vietnam Pro" pitchFamily="34" charset="-122"/>
                          <a:cs typeface="Be Vietnam Pro" pitchFamily="34" charset="-120"/>
                        </a:rPr>
                        <a:t>Trách nhiệm chính</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gn="r">
                        <a:lnSpc>
                          <a:spcPts val="1680"/>
                        </a:lnSpc>
                        <a:buNone/>
                      </a:pPr>
                      <a:r>
                        <a:rPr lang="en-US" sz="1200" b="1" dirty="0">
                          <a:solidFill>
                            <a:srgbClr val="14284B"/>
                          </a:solidFill>
                          <a:latin typeface="Be Vietnam Pro" pitchFamily="34" charset="0"/>
                          <a:ea typeface="Be Vietnam Pro" pitchFamily="34" charset="-122"/>
                          <a:cs typeface="Be Vietnam Pro" pitchFamily="34" charset="-120"/>
                        </a:rPr>
                        <a:t>Giờ</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nSpc>
                          <a:spcPts val="1680"/>
                        </a:lnSpc>
                        <a:buNone/>
                      </a:pPr>
                      <a:r>
                        <a:rPr lang="en-US" sz="1200" b="1" dirty="0">
                          <a:solidFill>
                            <a:srgbClr val="14284B"/>
                          </a:solidFill>
                          <a:latin typeface="Be Vietnam Pro" pitchFamily="34" charset="0"/>
                          <a:ea typeface="Be Vietnam Pro" pitchFamily="34" charset="-122"/>
                          <a:cs typeface="Be Vietnam Pro" pitchFamily="34" charset="-120"/>
                        </a:rPr>
                        <a:t>Mốc</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nSpc>
                          <a:spcPts val="1680"/>
                        </a:lnSpc>
                        <a:buNone/>
                      </a:pPr>
                      <a:r>
                        <a:rPr lang="en-US" sz="1200" b="1" dirty="0">
                          <a:solidFill>
                            <a:srgbClr val="14284B"/>
                          </a:solidFill>
                          <a:latin typeface="Be Vietnam Pro" pitchFamily="34" charset="0"/>
                          <a:ea typeface="Be Vietnam Pro" pitchFamily="34" charset="-122"/>
                          <a:cs typeface="Be Vietnam Pro" pitchFamily="34" charset="-120"/>
                        </a:rPr>
                        <a:t>Dự phòng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extLst>
                  <a:ext uri="{0D108BD9-81ED-4DB2-BD59-A6C34878D82A}">
                    <a16:rowId xmlns:a16="http://schemas.microsoft.com/office/drawing/2014/main" val="10000"/>
                  </a:ext>
                </a:extLst>
              </a:tr>
              <a:tr h="546001">
                <a:tc>
                  <a:txBody>
                    <a:bodyPr/>
                    <a:lstStyle/>
                    <a:p>
                      <a:pPr marL="0" indent="0">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Đỗ Văn Tiến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B23A2E"/>
                          </a:solidFill>
                          <a:latin typeface="Be Vietnam Pro" pitchFamily="34" charset="0"/>
                          <a:ea typeface="Be Vietnam Pro" pitchFamily="34" charset="-122"/>
                          <a:cs typeface="Be Vietnam Pro" pitchFamily="34" charset="-120"/>
                        </a:rPr>
                        <a:t>PM kiêm BA, trưởng nhóm</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Kế hoạch, phạm vi, rủi ro, chỉ số; SRS, backlog; kiểm thử chấp nhận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65</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M1</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Kiểm thử</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1"/>
                  </a:ext>
                </a:extLst>
              </a:tr>
              <a:tr h="546001">
                <a:tc>
                  <a:txBody>
                    <a:bodyPr/>
                    <a:lstStyle/>
                    <a:p>
                      <a:pPr marL="0" indent="0">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Mai Thành Khang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B23A2E"/>
                          </a:solidFill>
                          <a:latin typeface="Be Vietnam Pro" pitchFamily="34" charset="0"/>
                          <a:ea typeface="Be Vietnam Pro" pitchFamily="34" charset="-122"/>
                          <a:cs typeface="Be Vietnam Pro" pitchFamily="34" charset="-120"/>
                        </a:rPr>
                        <a:t>Trưởng kỹ thuật – Kiến trúc sư</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Kiến trúc, SDD; backend tài khoản, phân quyền, luồng xử lý; triển khai demo</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65</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M2</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Quản lý dự án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2"/>
                  </a:ext>
                </a:extLst>
              </a:tr>
              <a:tr h="546001">
                <a:tc>
                  <a:txBody>
                    <a:bodyPr/>
                    <a:lstStyle/>
                    <a:p>
                      <a:pPr marL="0" indent="0">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Đoàn Quang Anh</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B23A2E"/>
                          </a:solidFill>
                          <a:latin typeface="Be Vietnam Pro" pitchFamily="34" charset="0"/>
                          <a:ea typeface="Be Vietnam Pro" pitchFamily="34" charset="-122"/>
                          <a:cs typeface="Be Vietnam Pro" pitchFamily="34" charset="-120"/>
                        </a:rPr>
                        <a:t>Backend – Cơ sở dữ liệu</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Khảo sát yêu cầu; CSDL, API; backend hồ sơ, tệp, email, nhật ký, dashboard</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65</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M3</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Trưởng kỹ thuật</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3"/>
                  </a:ext>
                </a:extLst>
              </a:tr>
              <a:tr h="546001">
                <a:tc>
                  <a:txBody>
                    <a:bodyPr/>
                    <a:lstStyle/>
                    <a:p>
                      <a:pPr marL="0" indent="0">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Đỗ Văn Phương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B23A2E"/>
                          </a:solidFill>
                          <a:latin typeface="Be Vietnam Pro" pitchFamily="34" charset="0"/>
                          <a:ea typeface="Be Vietnam Pro" pitchFamily="34" charset="-122"/>
                          <a:cs typeface="Be Vietnam Pro" pitchFamily="34" charset="-120"/>
                        </a:rPr>
                        <a:t>Frontend – UI/UX</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Prototype; cổng người dân, phân hệ cán bộ, dashboard; hướng dẫn sử dụng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65</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M4</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Backend</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4"/>
                  </a:ext>
                </a:extLst>
              </a:tr>
              <a:tr h="546001">
                <a:tc>
                  <a:txBody>
                    <a:bodyPr/>
                    <a:lstStyle/>
                    <a:p>
                      <a:pPr marL="0" indent="0">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Mai Xuân Đạt</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B23A2E"/>
                          </a:solidFill>
                          <a:latin typeface="Be Vietnam Pro" pitchFamily="34" charset="0"/>
                          <a:ea typeface="Be Vietnam Pro" pitchFamily="34" charset="-122"/>
                          <a:cs typeface="Be Vietnam Pro" pitchFamily="34" charset="-120"/>
                        </a:rPr>
                        <a:t>QA – Cấu hình và DevOps</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Repository, CI; RTM, Test Plan; kiểm thử từng sprint, bảo mật, hiệu năng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65</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M5</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Frontend</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812800" y="5153025"/>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Mỗi người 65 giờ, điều phối một mốc, có người dự phòng.</a:t>
            </a:r>
            <a:endParaRPr lang="en-US" sz="1200" dirty="0"/>
          </a:p>
        </p:txBody>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e-HoSo · Project Plan · Nhóm INS6021</a:t>
            </a:r>
            <a:endParaRPr lang="en-US" sz="1200" dirty="0"/>
          </a:p>
        </p:txBody>
      </p:sp>
      <p:sp>
        <p:nvSpPr>
          <p:cNvPr id="8" name="Text 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F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23A2E"/>
                </a:solidFill>
                <a:latin typeface="Be Vietnam Pro" pitchFamily="34" charset="0"/>
                <a:ea typeface="Be Vietnam Pro" pitchFamily="34" charset="-122"/>
                <a:cs typeface="Be Vietnam Pro" pitchFamily="34" charset="-120"/>
              </a:rPr>
              <a:t>KẾ HOẠCH QUẢN LÝ · ĐIỀU LỆ NHÓM</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84B"/>
                </a:solidFill>
                <a:latin typeface="Be Vietnam Pro" pitchFamily="34" charset="0"/>
                <a:ea typeface="Be Vietnam Pro" pitchFamily="34" charset="-122"/>
                <a:cs typeface="Be Vietnam Pro" pitchFamily="34" charset="-120"/>
              </a:rPr>
              <a:t>Điều lệ nhóm (Team Charter)</a:t>
            </a:r>
            <a:endParaRPr lang="en-US" sz="3200" dirty="0"/>
          </a:p>
        </p:txBody>
      </p:sp>
      <p:sp>
        <p:nvSpPr>
          <p:cNvPr id="4" name="Shape 2"/>
          <p:cNvSpPr/>
          <p:nvPr/>
        </p:nvSpPr>
        <p:spPr>
          <a:xfrm>
            <a:off x="815975" y="1826816"/>
            <a:ext cx="3380284" cy="1410940"/>
          </a:xfrm>
          <a:prstGeom prst="roundRect">
            <a:avLst>
              <a:gd name="adj" fmla="val 6976"/>
            </a:avLst>
          </a:prstGeom>
          <a:solidFill>
            <a:srgbClr val="FDFCFA"/>
          </a:solidFill>
          <a:ln w="6350">
            <a:solidFill>
              <a:srgbClr val="D9DDE3"/>
            </a:solidFill>
            <a:prstDash val="solid"/>
          </a:ln>
        </p:spPr>
        <p:txBody>
          <a:bodyPr/>
          <a:lstStyle/>
          <a:p>
            <a:endParaRPr lang="en-VN"/>
          </a:p>
        </p:txBody>
      </p:sp>
      <p:pic>
        <p:nvPicPr>
          <p:cNvPr id="5" name="Image 0" descr="Clock"/>
          <p:cNvPicPr>
            <a:picLocks noChangeAspect="1"/>
          </p:cNvPicPr>
          <p:nvPr/>
        </p:nvPicPr>
        <p:blipFill>
          <a:blip r:embed="rId3"/>
          <a:srcRect/>
          <a:stretch/>
        </p:blipFill>
        <p:spPr>
          <a:xfrm>
            <a:off x="1022350" y="2007791"/>
            <a:ext cx="254000" cy="254000"/>
          </a:xfrm>
          <a:prstGeom prst="rect">
            <a:avLst/>
          </a:prstGeom>
        </p:spPr>
      </p:pic>
      <p:sp>
        <p:nvSpPr>
          <p:cNvPr id="6" name="Text 3"/>
          <p:cNvSpPr/>
          <p:nvPr/>
        </p:nvSpPr>
        <p:spPr>
          <a:xfrm>
            <a:off x="1377950" y="2020491"/>
            <a:ext cx="135016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84B"/>
                </a:solidFill>
                <a:latin typeface="Be Vietnam Pro" pitchFamily="34" charset="0"/>
                <a:ea typeface="Be Vietnam Pro" pitchFamily="34" charset="-122"/>
                <a:cs typeface="Be Vietnam Pro" pitchFamily="34" charset="-120"/>
              </a:rPr>
              <a:t>Họp định kỳ</a:t>
            </a:r>
            <a:endParaRPr lang="en-US" sz="1500" dirty="0"/>
          </a:p>
        </p:txBody>
      </p:sp>
      <p:sp>
        <p:nvSpPr>
          <p:cNvPr id="7" name="Text 4"/>
          <p:cNvSpPr/>
          <p:nvPr/>
        </p:nvSpPr>
        <p:spPr>
          <a:xfrm>
            <a:off x="1022350" y="2363391"/>
            <a:ext cx="3056560"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5C"/>
                </a:solidFill>
                <a:latin typeface="Be Vietnam Pro" pitchFamily="34" charset="0"/>
                <a:ea typeface="Be Vietnam Pro" pitchFamily="34" charset="-122"/>
                <a:cs typeface="Be Vietnam Pro" pitchFamily="34" charset="-120"/>
              </a:rPr>
              <a:t>Chủ nhật 20:30–21:15 qua Google Meet; họp nhanh 15 phút tối thứ Tư trong sprint</a:t>
            </a:r>
            <a:endParaRPr lang="en-US" sz="1300" dirty="0"/>
          </a:p>
        </p:txBody>
      </p:sp>
      <p:sp>
        <p:nvSpPr>
          <p:cNvPr id="8" name="Shape 5"/>
          <p:cNvSpPr/>
          <p:nvPr/>
        </p:nvSpPr>
        <p:spPr>
          <a:xfrm>
            <a:off x="4405809" y="1826816"/>
            <a:ext cx="3380333" cy="1410940"/>
          </a:xfrm>
          <a:prstGeom prst="roundRect">
            <a:avLst>
              <a:gd name="adj" fmla="val 6976"/>
            </a:avLst>
          </a:prstGeom>
          <a:solidFill>
            <a:srgbClr val="FDFCFA"/>
          </a:solidFill>
          <a:ln w="6350">
            <a:solidFill>
              <a:srgbClr val="D9DDE3"/>
            </a:solidFill>
            <a:prstDash val="solid"/>
          </a:ln>
        </p:spPr>
        <p:txBody>
          <a:bodyPr/>
          <a:lstStyle/>
          <a:p>
            <a:endParaRPr lang="en-VN"/>
          </a:p>
        </p:txBody>
      </p:sp>
      <p:pic>
        <p:nvPicPr>
          <p:cNvPr id="9" name="Image 1" descr="Chat"/>
          <p:cNvPicPr>
            <a:picLocks noChangeAspect="1"/>
          </p:cNvPicPr>
          <p:nvPr/>
        </p:nvPicPr>
        <p:blipFill>
          <a:blip r:embed="rId4"/>
          <a:srcRect/>
          <a:stretch/>
        </p:blipFill>
        <p:spPr>
          <a:xfrm>
            <a:off x="4612184" y="2007791"/>
            <a:ext cx="254000" cy="254000"/>
          </a:xfrm>
          <a:prstGeom prst="rect">
            <a:avLst/>
          </a:prstGeom>
        </p:spPr>
      </p:pic>
      <p:sp>
        <p:nvSpPr>
          <p:cNvPr id="10" name="Text 6"/>
          <p:cNvSpPr/>
          <p:nvPr/>
        </p:nvSpPr>
        <p:spPr>
          <a:xfrm>
            <a:off x="4967784" y="2020491"/>
            <a:ext cx="9050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84B"/>
                </a:solidFill>
                <a:latin typeface="Be Vietnam Pro" pitchFamily="34" charset="0"/>
                <a:ea typeface="Be Vietnam Pro" pitchFamily="34" charset="-122"/>
                <a:cs typeface="Be Vietnam Pro" pitchFamily="34" charset="-120"/>
              </a:rPr>
              <a:t>Liên lạc</a:t>
            </a:r>
            <a:endParaRPr lang="en-US" sz="1500" dirty="0"/>
          </a:p>
        </p:txBody>
      </p:sp>
      <p:sp>
        <p:nvSpPr>
          <p:cNvPr id="11" name="Text 7"/>
          <p:cNvSpPr/>
          <p:nvPr/>
        </p:nvSpPr>
        <p:spPr>
          <a:xfrm>
            <a:off x="4612184" y="2363391"/>
            <a:ext cx="3056611"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5C"/>
                </a:solidFill>
                <a:latin typeface="Be Vietnam Pro" pitchFamily="34" charset="0"/>
                <a:ea typeface="Be Vietnam Pro" pitchFamily="34" charset="-122"/>
                <a:cs typeface="Be Vietnam Pro" pitchFamily="34" charset="-120"/>
              </a:rPr>
              <a:t>Zalo để trao đổi nhanh, GitHub để giao việc; phản hồi trong 24 giờ, 12 giờ khi sát mốc</a:t>
            </a:r>
            <a:endParaRPr lang="en-US" sz="1300" dirty="0"/>
          </a:p>
        </p:txBody>
      </p:sp>
      <p:sp>
        <p:nvSpPr>
          <p:cNvPr id="12" name="Shape 8"/>
          <p:cNvSpPr/>
          <p:nvPr/>
        </p:nvSpPr>
        <p:spPr>
          <a:xfrm>
            <a:off x="7995692" y="1826816"/>
            <a:ext cx="3380284" cy="1410940"/>
          </a:xfrm>
          <a:prstGeom prst="roundRect">
            <a:avLst>
              <a:gd name="adj" fmla="val 6976"/>
            </a:avLst>
          </a:prstGeom>
          <a:solidFill>
            <a:srgbClr val="FDFCFA"/>
          </a:solidFill>
          <a:ln w="6350">
            <a:solidFill>
              <a:srgbClr val="D9DDE3"/>
            </a:solidFill>
            <a:prstDash val="solid"/>
          </a:ln>
        </p:spPr>
        <p:txBody>
          <a:bodyPr/>
          <a:lstStyle/>
          <a:p>
            <a:endParaRPr lang="en-VN"/>
          </a:p>
        </p:txBody>
      </p:sp>
      <p:pic>
        <p:nvPicPr>
          <p:cNvPr id="13" name="Image 2" descr="Key"/>
          <p:cNvPicPr>
            <a:picLocks noChangeAspect="1"/>
          </p:cNvPicPr>
          <p:nvPr/>
        </p:nvPicPr>
        <p:blipFill>
          <a:blip r:embed="rId5"/>
          <a:srcRect/>
          <a:stretch/>
        </p:blipFill>
        <p:spPr>
          <a:xfrm>
            <a:off x="8202067" y="2007791"/>
            <a:ext cx="254000" cy="254000"/>
          </a:xfrm>
          <a:prstGeom prst="rect">
            <a:avLst/>
          </a:prstGeom>
        </p:spPr>
      </p:pic>
      <p:sp>
        <p:nvSpPr>
          <p:cNvPr id="14" name="Text 9"/>
          <p:cNvSpPr/>
          <p:nvPr/>
        </p:nvSpPr>
        <p:spPr>
          <a:xfrm>
            <a:off x="8557667" y="2020491"/>
            <a:ext cx="15730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84B"/>
                </a:solidFill>
                <a:latin typeface="Be Vietnam Pro" pitchFamily="34" charset="0"/>
                <a:ea typeface="Be Vietnam Pro" pitchFamily="34" charset="-122"/>
                <a:cs typeface="Be Vietnam Pro" pitchFamily="34" charset="-120"/>
              </a:rPr>
              <a:t>Ra quyết định</a:t>
            </a:r>
            <a:endParaRPr lang="en-US" sz="1500" dirty="0"/>
          </a:p>
        </p:txBody>
      </p:sp>
      <p:sp>
        <p:nvSpPr>
          <p:cNvPr id="15" name="Text 10"/>
          <p:cNvSpPr/>
          <p:nvPr/>
        </p:nvSpPr>
        <p:spPr>
          <a:xfrm>
            <a:off x="8202067" y="2363391"/>
            <a:ext cx="3056560"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5C"/>
                </a:solidFill>
                <a:latin typeface="Be Vietnam Pro" pitchFamily="34" charset="0"/>
                <a:ea typeface="Be Vietnam Pro" pitchFamily="34" charset="-122"/>
                <a:cs typeface="Be Vietnam Pro" pitchFamily="34" charset="-120"/>
              </a:rPr>
              <a:t>Ưu tiên đồng thuận; Trưởng kỹ thuật chốt vấn đề kỹ thuật, PM chốt phạm vi và tiến độ</a:t>
            </a:r>
            <a:endParaRPr lang="en-US" sz="1300" dirty="0"/>
          </a:p>
        </p:txBody>
      </p:sp>
      <p:sp>
        <p:nvSpPr>
          <p:cNvPr id="16" name="Shape 11"/>
          <p:cNvSpPr/>
          <p:nvPr/>
        </p:nvSpPr>
        <p:spPr>
          <a:xfrm>
            <a:off x="815975" y="3447306"/>
            <a:ext cx="3380284" cy="1410940"/>
          </a:xfrm>
          <a:prstGeom prst="roundRect">
            <a:avLst>
              <a:gd name="adj" fmla="val 6976"/>
            </a:avLst>
          </a:prstGeom>
          <a:solidFill>
            <a:srgbClr val="FDFCFA"/>
          </a:solidFill>
          <a:ln w="6350">
            <a:solidFill>
              <a:srgbClr val="D9DDE3"/>
            </a:solidFill>
            <a:prstDash val="solid"/>
          </a:ln>
        </p:spPr>
        <p:txBody>
          <a:bodyPr/>
          <a:lstStyle/>
          <a:p>
            <a:endParaRPr lang="en-VN"/>
          </a:p>
        </p:txBody>
      </p:sp>
      <p:pic>
        <p:nvPicPr>
          <p:cNvPr id="17" name="Image 3" descr="CheckCircle"/>
          <p:cNvPicPr>
            <a:picLocks noChangeAspect="1"/>
          </p:cNvPicPr>
          <p:nvPr/>
        </p:nvPicPr>
        <p:blipFill>
          <a:blip r:embed="rId6"/>
          <a:srcRect/>
          <a:stretch/>
        </p:blipFill>
        <p:spPr>
          <a:xfrm>
            <a:off x="1022350" y="3628281"/>
            <a:ext cx="254000" cy="254000"/>
          </a:xfrm>
          <a:prstGeom prst="rect">
            <a:avLst/>
          </a:prstGeom>
        </p:spPr>
      </p:pic>
      <p:sp>
        <p:nvSpPr>
          <p:cNvPr id="18" name="Text 12"/>
          <p:cNvSpPr/>
          <p:nvPr/>
        </p:nvSpPr>
        <p:spPr>
          <a:xfrm>
            <a:off x="1377950" y="3640981"/>
            <a:ext cx="256764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84B"/>
                </a:solidFill>
                <a:latin typeface="Be Vietnam Pro" pitchFamily="34" charset="0"/>
                <a:ea typeface="Be Vietnam Pro" pitchFamily="34" charset="-122"/>
                <a:cs typeface="Be Vietnam Pro" pitchFamily="34" charset="-120"/>
              </a:rPr>
              <a:t>Định nghĩa hoàn thành</a:t>
            </a:r>
            <a:endParaRPr lang="en-US" sz="1500" dirty="0"/>
          </a:p>
        </p:txBody>
      </p:sp>
      <p:sp>
        <p:nvSpPr>
          <p:cNvPr id="19" name="Text 13"/>
          <p:cNvSpPr/>
          <p:nvPr/>
        </p:nvSpPr>
        <p:spPr>
          <a:xfrm>
            <a:off x="1022350" y="3983881"/>
            <a:ext cx="3056560"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5C"/>
                </a:solidFill>
                <a:latin typeface="Be Vietnam Pro" pitchFamily="34" charset="0"/>
                <a:ea typeface="Be Vietnam Pro" pitchFamily="34" charset="-122"/>
                <a:cs typeface="Be Vietnam Pro" pitchFamily="34" charset="-120"/>
              </a:rPr>
              <a:t>Đã review và merge, CI xanh, có unit test, tài liệu cập nhật, task chuyển Done</a:t>
            </a:r>
            <a:endParaRPr lang="en-US" sz="1300" dirty="0"/>
          </a:p>
        </p:txBody>
      </p:sp>
      <p:sp>
        <p:nvSpPr>
          <p:cNvPr id="20" name="Shape 14"/>
          <p:cNvSpPr/>
          <p:nvPr/>
        </p:nvSpPr>
        <p:spPr>
          <a:xfrm>
            <a:off x="4405809" y="3447306"/>
            <a:ext cx="3380333" cy="1410940"/>
          </a:xfrm>
          <a:prstGeom prst="roundRect">
            <a:avLst>
              <a:gd name="adj" fmla="val 6976"/>
            </a:avLst>
          </a:prstGeom>
          <a:solidFill>
            <a:srgbClr val="FDFCFA"/>
          </a:solidFill>
          <a:ln w="6350">
            <a:solidFill>
              <a:srgbClr val="D9DDE3"/>
            </a:solidFill>
            <a:prstDash val="solid"/>
          </a:ln>
        </p:spPr>
        <p:txBody>
          <a:bodyPr/>
          <a:lstStyle/>
          <a:p>
            <a:endParaRPr lang="en-VN"/>
          </a:p>
        </p:txBody>
      </p:sp>
      <p:pic>
        <p:nvPicPr>
          <p:cNvPr id="21" name="Image 4" descr="Users"/>
          <p:cNvPicPr>
            <a:picLocks noChangeAspect="1"/>
          </p:cNvPicPr>
          <p:nvPr/>
        </p:nvPicPr>
        <p:blipFill>
          <a:blip r:embed="rId7"/>
          <a:srcRect/>
          <a:stretch/>
        </p:blipFill>
        <p:spPr>
          <a:xfrm>
            <a:off x="4612184" y="3628281"/>
            <a:ext cx="254000" cy="254000"/>
          </a:xfrm>
          <a:prstGeom prst="rect">
            <a:avLst/>
          </a:prstGeom>
        </p:spPr>
      </p:pic>
      <p:sp>
        <p:nvSpPr>
          <p:cNvPr id="22" name="Text 15"/>
          <p:cNvSpPr/>
          <p:nvPr/>
        </p:nvSpPr>
        <p:spPr>
          <a:xfrm>
            <a:off x="4967784" y="3640981"/>
            <a:ext cx="228742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84B"/>
                </a:solidFill>
                <a:latin typeface="Be Vietnam Pro" pitchFamily="34" charset="0"/>
                <a:ea typeface="Be Vietnam Pro" pitchFamily="34" charset="-122"/>
                <a:cs typeface="Be Vietnam Pro" pitchFamily="34" charset="-120"/>
              </a:rPr>
              <a:t>Giải quyết bất đồng</a:t>
            </a:r>
            <a:endParaRPr lang="en-US" sz="1500" dirty="0"/>
          </a:p>
        </p:txBody>
      </p:sp>
      <p:sp>
        <p:nvSpPr>
          <p:cNvPr id="23" name="Text 16"/>
          <p:cNvSpPr/>
          <p:nvPr/>
        </p:nvSpPr>
        <p:spPr>
          <a:xfrm>
            <a:off x="4612184" y="3983881"/>
            <a:ext cx="305661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5C"/>
                </a:solidFill>
                <a:latin typeface="Be Vietnam Pro" pitchFamily="34" charset="0"/>
                <a:ea typeface="Be Vietnam Pro" pitchFamily="34" charset="-122"/>
                <a:cs typeface="Be Vietnam Pro" pitchFamily="34" charset="-120"/>
              </a:rPr>
              <a:t>Trao đổi trực tiếp → đưa ra họp tuần → PM quyết định → báo giảng viên</a:t>
            </a:r>
            <a:endParaRPr lang="en-US" sz="1300" dirty="0"/>
          </a:p>
        </p:txBody>
      </p:sp>
      <p:sp>
        <p:nvSpPr>
          <p:cNvPr id="24" name="Shape 17"/>
          <p:cNvSpPr/>
          <p:nvPr/>
        </p:nvSpPr>
        <p:spPr>
          <a:xfrm>
            <a:off x="7995692" y="3447306"/>
            <a:ext cx="3380284" cy="1410940"/>
          </a:xfrm>
          <a:prstGeom prst="roundRect">
            <a:avLst>
              <a:gd name="adj" fmla="val 6976"/>
            </a:avLst>
          </a:prstGeom>
          <a:solidFill>
            <a:srgbClr val="FDFCFA"/>
          </a:solidFill>
          <a:ln w="6350">
            <a:solidFill>
              <a:srgbClr val="D9DDE3"/>
            </a:solidFill>
            <a:prstDash val="solid"/>
          </a:ln>
        </p:spPr>
        <p:txBody>
          <a:bodyPr/>
          <a:lstStyle/>
          <a:p>
            <a:endParaRPr lang="en-VN"/>
          </a:p>
        </p:txBody>
      </p:sp>
      <p:pic>
        <p:nvPicPr>
          <p:cNvPr id="25" name="Image 5" descr="Trust"/>
          <p:cNvPicPr>
            <a:picLocks noChangeAspect="1"/>
          </p:cNvPicPr>
          <p:nvPr/>
        </p:nvPicPr>
        <p:blipFill>
          <a:blip r:embed="rId8"/>
          <a:srcRect/>
          <a:stretch/>
        </p:blipFill>
        <p:spPr>
          <a:xfrm>
            <a:off x="8202067" y="3628281"/>
            <a:ext cx="254000" cy="254000"/>
          </a:xfrm>
          <a:prstGeom prst="rect">
            <a:avLst/>
          </a:prstGeom>
        </p:spPr>
      </p:pic>
      <p:sp>
        <p:nvSpPr>
          <p:cNvPr id="26" name="Text 18"/>
          <p:cNvSpPr/>
          <p:nvPr/>
        </p:nvSpPr>
        <p:spPr>
          <a:xfrm>
            <a:off x="8557667" y="3640981"/>
            <a:ext cx="211228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84B"/>
                </a:solidFill>
                <a:latin typeface="Be Vietnam Pro" pitchFamily="34" charset="0"/>
                <a:ea typeface="Be Vietnam Pro" pitchFamily="34" charset="-122"/>
                <a:cs typeface="Be Vietnam Pro" pitchFamily="34" charset="-120"/>
              </a:rPr>
              <a:t>Cam kết đóng góp</a:t>
            </a:r>
            <a:endParaRPr lang="en-US" sz="1500" dirty="0"/>
          </a:p>
        </p:txBody>
      </p:sp>
      <p:sp>
        <p:nvSpPr>
          <p:cNvPr id="27" name="Text 19"/>
          <p:cNvSpPr/>
          <p:nvPr/>
        </p:nvSpPr>
        <p:spPr>
          <a:xfrm>
            <a:off x="8202067" y="3983881"/>
            <a:ext cx="3056560"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5C"/>
                </a:solidFill>
                <a:latin typeface="Be Vietnam Pro" pitchFamily="34" charset="0"/>
                <a:ea typeface="Be Vietnam Pro" pitchFamily="34" charset="-122"/>
                <a:cs typeface="Be Vietnam Pro" pitchFamily="34" charset="-120"/>
              </a:rPr>
              <a:t>Tối thiểu 11 giờ/tuần trong 6 tuần; báo trước 48 giờ nếu vắng họp hoặc trễ việc</a:t>
            </a:r>
            <a:endParaRPr lang="en-US" sz="1300" dirty="0"/>
          </a:p>
        </p:txBody>
      </p:sp>
      <p:sp>
        <p:nvSpPr>
          <p:cNvPr id="28"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e-HoSo · Project Plan · Nhóm INS6021</a:t>
            </a:r>
            <a:endParaRPr lang="en-US" sz="1200" dirty="0"/>
          </a:p>
        </p:txBody>
      </p:sp>
      <p:sp>
        <p:nvSpPr>
          <p:cNvPr id="29" name="Text 2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23A2E"/>
                </a:solidFill>
                <a:latin typeface="Be Vietnam Pro" pitchFamily="34" charset="0"/>
                <a:ea typeface="Be Vietnam Pro" pitchFamily="34" charset="-122"/>
                <a:cs typeface="Be Vietnam Pro" pitchFamily="34" charset="-120"/>
              </a:rPr>
              <a:t>KẾ HOẠCH QUẢN LÝ · MỐC VÀ SẢN PHẨM BÀN GIAO</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84B"/>
                </a:solidFill>
                <a:latin typeface="Be Vietnam Pro" pitchFamily="34" charset="0"/>
                <a:ea typeface="Be Vietnam Pro" pitchFamily="34" charset="-122"/>
                <a:cs typeface="Be Vietnam Pro" pitchFamily="34" charset="-120"/>
              </a:rPr>
              <a:t>6 mốc trong 6 tuần</a:t>
            </a:r>
            <a:endParaRPr lang="en-US" sz="3200" dirty="0"/>
          </a:p>
        </p:txBody>
      </p:sp>
      <p:sp>
        <p:nvSpPr>
          <p:cNvPr id="4" name="Text 2"/>
          <p:cNvSpPr/>
          <p:nvPr/>
        </p:nvSpPr>
        <p:spPr>
          <a:xfrm>
            <a:off x="812800" y="1823641"/>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Be Vietnam Pro" pitchFamily="34" charset="0"/>
                <a:ea typeface="Be Vietnam Pro" pitchFamily="34" charset="-122"/>
                <a:cs typeface="Be Vietnam Pro" pitchFamily="34" charset="-120"/>
              </a:rPr>
              <a:t>2 tuần yêu cầu và thiết kế, 3 tuần xây dựng bằng 2 sprint, 1 tuần hoàn thiện và bảo vệ.</a:t>
            </a:r>
            <a:endParaRPr lang="en-US" sz="1400" dirty="0"/>
          </a:p>
        </p:txBody>
      </p:sp>
      <p:sp>
        <p:nvSpPr>
          <p:cNvPr id="5" name="Text 3"/>
          <p:cNvSpPr/>
          <p:nvPr/>
        </p:nvSpPr>
        <p:spPr>
          <a:xfrm>
            <a:off x="812800" y="2326531"/>
            <a:ext cx="168483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23A2E"/>
                </a:solidFill>
                <a:latin typeface="Be Vietnam Pro" pitchFamily="34" charset="0"/>
                <a:ea typeface="Be Vietnam Pro" pitchFamily="34" charset="-122"/>
                <a:cs typeface="Be Vietnam Pro" pitchFamily="34" charset="-120"/>
              </a:rPr>
              <a:t>26–27/10</a:t>
            </a:r>
            <a:endParaRPr lang="en-US" sz="1400" dirty="0"/>
          </a:p>
        </p:txBody>
      </p:sp>
      <p:sp>
        <p:nvSpPr>
          <p:cNvPr id="6" name="Shape 4"/>
          <p:cNvSpPr/>
          <p:nvPr/>
        </p:nvSpPr>
        <p:spPr>
          <a:xfrm>
            <a:off x="812800" y="2677021"/>
            <a:ext cx="1634034" cy="50800"/>
          </a:xfrm>
          <a:prstGeom prst="rect">
            <a:avLst/>
          </a:prstGeom>
          <a:solidFill>
            <a:srgbClr val="B23A2E"/>
          </a:solidFill>
          <a:ln/>
        </p:spPr>
        <p:txBody>
          <a:bodyPr/>
          <a:lstStyle/>
          <a:p>
            <a:endParaRPr lang="en-VN"/>
          </a:p>
        </p:txBody>
      </p:sp>
      <p:sp>
        <p:nvSpPr>
          <p:cNvPr id="7" name="Text 5"/>
          <p:cNvSpPr/>
          <p:nvPr/>
        </p:nvSpPr>
        <p:spPr>
          <a:xfrm>
            <a:off x="812800" y="2829421"/>
            <a:ext cx="168483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84B"/>
                </a:solidFill>
                <a:latin typeface="Be Vietnam Pro" pitchFamily="34" charset="0"/>
                <a:ea typeface="Be Vietnam Pro" pitchFamily="34" charset="-122"/>
                <a:cs typeface="Be Vietnam Pro" pitchFamily="34" charset="-120"/>
              </a:rPr>
              <a:t>M0 · Khởi động</a:t>
            </a:r>
            <a:endParaRPr lang="en-US" sz="1400" dirty="0"/>
          </a:p>
        </p:txBody>
      </p:sp>
      <p:sp>
        <p:nvSpPr>
          <p:cNvPr id="8" name="Text 6"/>
          <p:cNvSpPr/>
          <p:nvPr/>
        </p:nvSpPr>
        <p:spPr>
          <a:xfrm>
            <a:off x="812800" y="3144341"/>
            <a:ext cx="1684834"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Project Plan, slide, biên bản họp khởi động</a:t>
            </a:r>
            <a:endParaRPr lang="en-US" sz="1200" dirty="0"/>
          </a:p>
        </p:txBody>
      </p:sp>
      <p:sp>
        <p:nvSpPr>
          <p:cNvPr id="9" name="Text 7"/>
          <p:cNvSpPr/>
          <p:nvPr/>
        </p:nvSpPr>
        <p:spPr>
          <a:xfrm>
            <a:off x="812800" y="3885902"/>
            <a:ext cx="1684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Cả nhóm</a:t>
            </a:r>
            <a:endParaRPr lang="en-US" sz="1200" dirty="0"/>
          </a:p>
        </p:txBody>
      </p:sp>
      <p:sp>
        <p:nvSpPr>
          <p:cNvPr id="10" name="Text 8"/>
          <p:cNvSpPr/>
          <p:nvPr/>
        </p:nvSpPr>
        <p:spPr>
          <a:xfrm>
            <a:off x="2599234" y="2326531"/>
            <a:ext cx="168488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84B"/>
                </a:solidFill>
                <a:latin typeface="Be Vietnam Pro" pitchFamily="34" charset="0"/>
                <a:ea typeface="Be Vietnam Pro" pitchFamily="34" charset="-122"/>
                <a:cs typeface="Be Vietnam Pro" pitchFamily="34" charset="-120"/>
              </a:rPr>
              <a:t>01/11</a:t>
            </a:r>
            <a:endParaRPr lang="en-US" sz="1400" dirty="0"/>
          </a:p>
        </p:txBody>
      </p:sp>
      <p:sp>
        <p:nvSpPr>
          <p:cNvPr id="11" name="Shape 9"/>
          <p:cNvSpPr/>
          <p:nvPr/>
        </p:nvSpPr>
        <p:spPr>
          <a:xfrm>
            <a:off x="2599234" y="2677021"/>
            <a:ext cx="1634083" cy="50800"/>
          </a:xfrm>
          <a:prstGeom prst="rect">
            <a:avLst/>
          </a:prstGeom>
          <a:solidFill>
            <a:srgbClr val="14284B"/>
          </a:solidFill>
          <a:ln/>
        </p:spPr>
        <p:txBody>
          <a:bodyPr/>
          <a:lstStyle/>
          <a:p>
            <a:endParaRPr lang="en-VN"/>
          </a:p>
        </p:txBody>
      </p:sp>
      <p:sp>
        <p:nvSpPr>
          <p:cNvPr id="12" name="Text 10"/>
          <p:cNvSpPr/>
          <p:nvPr/>
        </p:nvSpPr>
        <p:spPr>
          <a:xfrm>
            <a:off x="2599234" y="2829421"/>
            <a:ext cx="16848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84B"/>
                </a:solidFill>
                <a:latin typeface="Be Vietnam Pro" pitchFamily="34" charset="0"/>
                <a:ea typeface="Be Vietnam Pro" pitchFamily="34" charset="-122"/>
                <a:cs typeface="Be Vietnam Pro" pitchFamily="34" charset="-120"/>
              </a:rPr>
              <a:t>M1 · Yêu cầu</a:t>
            </a:r>
            <a:endParaRPr lang="en-US" sz="1400" dirty="0"/>
          </a:p>
        </p:txBody>
      </p:sp>
      <p:sp>
        <p:nvSpPr>
          <p:cNvPr id="13" name="Text 11"/>
          <p:cNvSpPr/>
          <p:nvPr/>
        </p:nvSpPr>
        <p:spPr>
          <a:xfrm>
            <a:off x="2599234" y="3144341"/>
            <a:ext cx="16848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SRS v1.0, use case, ma trận truy vết</a:t>
            </a:r>
            <a:endParaRPr lang="en-US" sz="1200" dirty="0"/>
          </a:p>
        </p:txBody>
      </p:sp>
      <p:sp>
        <p:nvSpPr>
          <p:cNvPr id="14" name="Text 12"/>
          <p:cNvSpPr/>
          <p:nvPr/>
        </p:nvSpPr>
        <p:spPr>
          <a:xfrm>
            <a:off x="2599234" y="3672582"/>
            <a:ext cx="16848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Tiến</a:t>
            </a:r>
            <a:endParaRPr lang="en-US" sz="1200" dirty="0"/>
          </a:p>
        </p:txBody>
      </p:sp>
      <p:sp>
        <p:nvSpPr>
          <p:cNvPr id="15" name="Text 13"/>
          <p:cNvSpPr/>
          <p:nvPr/>
        </p:nvSpPr>
        <p:spPr>
          <a:xfrm>
            <a:off x="4385717" y="2326531"/>
            <a:ext cx="168483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84B"/>
                </a:solidFill>
                <a:latin typeface="Be Vietnam Pro" pitchFamily="34" charset="0"/>
                <a:ea typeface="Be Vietnam Pro" pitchFamily="34" charset="-122"/>
                <a:cs typeface="Be Vietnam Pro" pitchFamily="34" charset="-120"/>
              </a:rPr>
              <a:t>08/11</a:t>
            </a:r>
            <a:endParaRPr lang="en-US" sz="1400" dirty="0"/>
          </a:p>
        </p:txBody>
      </p:sp>
      <p:sp>
        <p:nvSpPr>
          <p:cNvPr id="16" name="Shape 14"/>
          <p:cNvSpPr/>
          <p:nvPr/>
        </p:nvSpPr>
        <p:spPr>
          <a:xfrm>
            <a:off x="4385717" y="2677021"/>
            <a:ext cx="1634034" cy="50800"/>
          </a:xfrm>
          <a:prstGeom prst="rect">
            <a:avLst/>
          </a:prstGeom>
          <a:solidFill>
            <a:srgbClr val="14284B"/>
          </a:solidFill>
          <a:ln/>
        </p:spPr>
        <p:txBody>
          <a:bodyPr/>
          <a:lstStyle/>
          <a:p>
            <a:endParaRPr lang="en-VN"/>
          </a:p>
        </p:txBody>
      </p:sp>
      <p:sp>
        <p:nvSpPr>
          <p:cNvPr id="17" name="Text 15"/>
          <p:cNvSpPr/>
          <p:nvPr/>
        </p:nvSpPr>
        <p:spPr>
          <a:xfrm>
            <a:off x="4385717" y="2829421"/>
            <a:ext cx="168483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84B"/>
                </a:solidFill>
                <a:latin typeface="Be Vietnam Pro" pitchFamily="34" charset="0"/>
                <a:ea typeface="Be Vietnam Pro" pitchFamily="34" charset="-122"/>
                <a:cs typeface="Be Vietnam Pro" pitchFamily="34" charset="-120"/>
              </a:rPr>
              <a:t>M2 · Thiết kế</a:t>
            </a:r>
            <a:endParaRPr lang="en-US" sz="1400" dirty="0"/>
          </a:p>
        </p:txBody>
      </p:sp>
      <p:sp>
        <p:nvSpPr>
          <p:cNvPr id="18" name="Text 16"/>
          <p:cNvSpPr/>
          <p:nvPr/>
        </p:nvSpPr>
        <p:spPr>
          <a:xfrm>
            <a:off x="4385717" y="3144341"/>
            <a:ext cx="1684834"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SDD, UML, ERD, OpenAPI, prototype, Test Plan</a:t>
            </a:r>
            <a:endParaRPr lang="en-US" sz="1200" dirty="0"/>
          </a:p>
        </p:txBody>
      </p:sp>
      <p:sp>
        <p:nvSpPr>
          <p:cNvPr id="19" name="Text 17"/>
          <p:cNvSpPr/>
          <p:nvPr/>
        </p:nvSpPr>
        <p:spPr>
          <a:xfrm>
            <a:off x="4385717" y="3885902"/>
            <a:ext cx="1684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Khang</a:t>
            </a:r>
            <a:endParaRPr lang="en-US" sz="1200" dirty="0"/>
          </a:p>
        </p:txBody>
      </p:sp>
      <p:sp>
        <p:nvSpPr>
          <p:cNvPr id="20" name="Text 18"/>
          <p:cNvSpPr/>
          <p:nvPr/>
        </p:nvSpPr>
        <p:spPr>
          <a:xfrm>
            <a:off x="6172150" y="2326531"/>
            <a:ext cx="168488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84B"/>
                </a:solidFill>
                <a:latin typeface="Be Vietnam Pro" pitchFamily="34" charset="0"/>
                <a:ea typeface="Be Vietnam Pro" pitchFamily="34" charset="-122"/>
                <a:cs typeface="Be Vietnam Pro" pitchFamily="34" charset="-120"/>
              </a:rPr>
              <a:t>20/11</a:t>
            </a:r>
            <a:endParaRPr lang="en-US" sz="1400" dirty="0"/>
          </a:p>
        </p:txBody>
      </p:sp>
      <p:sp>
        <p:nvSpPr>
          <p:cNvPr id="21" name="Shape 19"/>
          <p:cNvSpPr/>
          <p:nvPr/>
        </p:nvSpPr>
        <p:spPr>
          <a:xfrm>
            <a:off x="6172150" y="2677021"/>
            <a:ext cx="1634083" cy="50800"/>
          </a:xfrm>
          <a:prstGeom prst="rect">
            <a:avLst/>
          </a:prstGeom>
          <a:solidFill>
            <a:srgbClr val="2F6DB5"/>
          </a:solidFill>
          <a:ln/>
        </p:spPr>
        <p:txBody>
          <a:bodyPr/>
          <a:lstStyle/>
          <a:p>
            <a:endParaRPr lang="en-VN"/>
          </a:p>
        </p:txBody>
      </p:sp>
      <p:sp>
        <p:nvSpPr>
          <p:cNvPr id="22" name="Text 20"/>
          <p:cNvSpPr/>
          <p:nvPr/>
        </p:nvSpPr>
        <p:spPr>
          <a:xfrm>
            <a:off x="6172150" y="2829421"/>
            <a:ext cx="16848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84B"/>
                </a:solidFill>
                <a:latin typeface="Be Vietnam Pro" pitchFamily="34" charset="0"/>
                <a:ea typeface="Be Vietnam Pro" pitchFamily="34" charset="-122"/>
                <a:cs typeface="Be Vietnam Pro" pitchFamily="34" charset="-120"/>
              </a:rPr>
              <a:t>M3 · Sprint 1</a:t>
            </a:r>
            <a:endParaRPr lang="en-US" sz="1400" dirty="0"/>
          </a:p>
        </p:txBody>
      </p:sp>
      <p:sp>
        <p:nvSpPr>
          <p:cNvPr id="23" name="Text 21"/>
          <p:cNvSpPr/>
          <p:nvPr/>
        </p:nvSpPr>
        <p:spPr>
          <a:xfrm>
            <a:off x="6172150" y="3144341"/>
            <a:ext cx="16848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Bản chạy được 1: cổng người dân</a:t>
            </a:r>
            <a:endParaRPr lang="en-US" sz="1200" dirty="0"/>
          </a:p>
        </p:txBody>
      </p:sp>
      <p:sp>
        <p:nvSpPr>
          <p:cNvPr id="24" name="Text 22"/>
          <p:cNvSpPr/>
          <p:nvPr/>
        </p:nvSpPr>
        <p:spPr>
          <a:xfrm>
            <a:off x="6172150" y="3672582"/>
            <a:ext cx="16848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Quang Anh</a:t>
            </a:r>
            <a:endParaRPr lang="en-US" sz="1200" dirty="0"/>
          </a:p>
        </p:txBody>
      </p:sp>
      <p:sp>
        <p:nvSpPr>
          <p:cNvPr id="25" name="Text 23"/>
          <p:cNvSpPr/>
          <p:nvPr/>
        </p:nvSpPr>
        <p:spPr>
          <a:xfrm>
            <a:off x="7958634" y="2326531"/>
            <a:ext cx="168488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84B"/>
                </a:solidFill>
                <a:latin typeface="Be Vietnam Pro" pitchFamily="34" charset="0"/>
                <a:ea typeface="Be Vietnam Pro" pitchFamily="34" charset="-122"/>
                <a:cs typeface="Be Vietnam Pro" pitchFamily="34" charset="-120"/>
              </a:rPr>
              <a:t>29/11</a:t>
            </a:r>
            <a:endParaRPr lang="en-US" sz="1400" dirty="0"/>
          </a:p>
        </p:txBody>
      </p:sp>
      <p:sp>
        <p:nvSpPr>
          <p:cNvPr id="26" name="Shape 24"/>
          <p:cNvSpPr/>
          <p:nvPr/>
        </p:nvSpPr>
        <p:spPr>
          <a:xfrm>
            <a:off x="7958634" y="2677021"/>
            <a:ext cx="1634083" cy="50800"/>
          </a:xfrm>
          <a:prstGeom prst="rect">
            <a:avLst/>
          </a:prstGeom>
          <a:solidFill>
            <a:srgbClr val="2F6DB5"/>
          </a:solidFill>
          <a:ln/>
        </p:spPr>
        <p:txBody>
          <a:bodyPr/>
          <a:lstStyle/>
          <a:p>
            <a:endParaRPr lang="en-VN"/>
          </a:p>
        </p:txBody>
      </p:sp>
      <p:sp>
        <p:nvSpPr>
          <p:cNvPr id="27" name="Text 25"/>
          <p:cNvSpPr/>
          <p:nvPr/>
        </p:nvSpPr>
        <p:spPr>
          <a:xfrm>
            <a:off x="7958634" y="2829421"/>
            <a:ext cx="16848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84B"/>
                </a:solidFill>
                <a:latin typeface="Be Vietnam Pro" pitchFamily="34" charset="0"/>
                <a:ea typeface="Be Vietnam Pro" pitchFamily="34" charset="-122"/>
                <a:cs typeface="Be Vietnam Pro" pitchFamily="34" charset="-120"/>
              </a:rPr>
              <a:t>M4 · Sprint 2</a:t>
            </a:r>
            <a:endParaRPr lang="en-US" sz="1400" dirty="0"/>
          </a:p>
        </p:txBody>
      </p:sp>
      <p:sp>
        <p:nvSpPr>
          <p:cNvPr id="28" name="Text 26"/>
          <p:cNvSpPr/>
          <p:nvPr/>
        </p:nvSpPr>
        <p:spPr>
          <a:xfrm>
            <a:off x="7958634" y="3144341"/>
            <a:ext cx="168488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Bản chạy được 2: phân hệ cán bộ, dashboard</a:t>
            </a:r>
            <a:endParaRPr lang="en-US" sz="1200" dirty="0"/>
          </a:p>
        </p:txBody>
      </p:sp>
      <p:sp>
        <p:nvSpPr>
          <p:cNvPr id="29" name="Text 27"/>
          <p:cNvSpPr/>
          <p:nvPr/>
        </p:nvSpPr>
        <p:spPr>
          <a:xfrm>
            <a:off x="7958634" y="3885902"/>
            <a:ext cx="16848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Phương</a:t>
            </a:r>
            <a:endParaRPr lang="en-US" sz="1200" dirty="0"/>
          </a:p>
        </p:txBody>
      </p:sp>
      <p:sp>
        <p:nvSpPr>
          <p:cNvPr id="30" name="Text 28"/>
          <p:cNvSpPr/>
          <p:nvPr/>
        </p:nvSpPr>
        <p:spPr>
          <a:xfrm>
            <a:off x="9745117" y="2326531"/>
            <a:ext cx="168488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84B"/>
                </a:solidFill>
                <a:latin typeface="Be Vietnam Pro" pitchFamily="34" charset="0"/>
                <a:ea typeface="Be Vietnam Pro" pitchFamily="34" charset="-122"/>
                <a:cs typeface="Be Vietnam Pro" pitchFamily="34" charset="-120"/>
              </a:rPr>
              <a:t>06/12</a:t>
            </a:r>
            <a:endParaRPr lang="en-US" sz="1400" dirty="0"/>
          </a:p>
        </p:txBody>
      </p:sp>
      <p:sp>
        <p:nvSpPr>
          <p:cNvPr id="31" name="Shape 29"/>
          <p:cNvSpPr/>
          <p:nvPr/>
        </p:nvSpPr>
        <p:spPr>
          <a:xfrm>
            <a:off x="9745117" y="2677021"/>
            <a:ext cx="1634083" cy="50800"/>
          </a:xfrm>
          <a:prstGeom prst="rect">
            <a:avLst/>
          </a:prstGeom>
          <a:solidFill>
            <a:srgbClr val="14284B"/>
          </a:solidFill>
          <a:ln/>
        </p:spPr>
        <p:txBody>
          <a:bodyPr/>
          <a:lstStyle/>
          <a:p>
            <a:endParaRPr lang="en-VN"/>
          </a:p>
        </p:txBody>
      </p:sp>
      <p:sp>
        <p:nvSpPr>
          <p:cNvPr id="32" name="Text 30"/>
          <p:cNvSpPr/>
          <p:nvPr/>
        </p:nvSpPr>
        <p:spPr>
          <a:xfrm>
            <a:off x="9745117" y="2829421"/>
            <a:ext cx="16848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84B"/>
                </a:solidFill>
                <a:latin typeface="Be Vietnam Pro" pitchFamily="34" charset="0"/>
                <a:ea typeface="Be Vietnam Pro" pitchFamily="34" charset="-122"/>
                <a:cs typeface="Be Vietnam Pro" pitchFamily="34" charset="-120"/>
              </a:rPr>
              <a:t>M5 · Kết thúc</a:t>
            </a:r>
            <a:endParaRPr lang="en-US" sz="1400" dirty="0"/>
          </a:p>
        </p:txBody>
      </p:sp>
      <p:sp>
        <p:nvSpPr>
          <p:cNvPr id="33" name="Text 31"/>
          <p:cNvSpPr/>
          <p:nvPr/>
        </p:nvSpPr>
        <p:spPr>
          <a:xfrm>
            <a:off x="9745117" y="3144341"/>
            <a:ext cx="168488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Báo cáo kiểm thử, báo cáo cuối kỳ, demo, bảo vệ</a:t>
            </a:r>
            <a:endParaRPr lang="en-US" sz="1200" dirty="0"/>
          </a:p>
        </p:txBody>
      </p:sp>
      <p:sp>
        <p:nvSpPr>
          <p:cNvPr id="34" name="Text 32"/>
          <p:cNvSpPr/>
          <p:nvPr/>
        </p:nvSpPr>
        <p:spPr>
          <a:xfrm>
            <a:off x="9745117" y="3885902"/>
            <a:ext cx="16848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Đạt</a:t>
            </a:r>
            <a:endParaRPr lang="en-US" sz="1200" dirty="0"/>
          </a:p>
        </p:txBody>
      </p:sp>
      <p:sp>
        <p:nvSpPr>
          <p:cNvPr id="35" name="Text 33"/>
          <p:cNvSpPr/>
          <p:nvPr/>
        </p:nvSpPr>
        <p:spPr>
          <a:xfrm>
            <a:off x="812800" y="4353223"/>
            <a:ext cx="11379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Năm 2026. M0 do cả nhóm thực hiện; từ M1 đến M5, mỗi thành viên điều phối một mốc. Nhóm sẽ điều chỉnh nếu giảng viên công bố hạn khác.</a:t>
            </a:r>
            <a:endParaRPr lang="en-US" sz="1200" dirty="0"/>
          </a:p>
        </p:txBody>
      </p:sp>
      <p:sp>
        <p:nvSpPr>
          <p:cNvPr id="36" name="Text 3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e-HoSo · Project Plan · Nhóm INS6021</a:t>
            </a:r>
            <a:endParaRPr lang="en-US" sz="1200" dirty="0"/>
          </a:p>
        </p:txBody>
      </p:sp>
      <p:sp>
        <p:nvSpPr>
          <p:cNvPr id="37" name="Text 3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F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23A2E"/>
                </a:solidFill>
                <a:latin typeface="Be Vietnam Pro" pitchFamily="34" charset="0"/>
                <a:ea typeface="Be Vietnam Pro" pitchFamily="34" charset="-122"/>
                <a:cs typeface="Be Vietnam Pro" pitchFamily="34" charset="-120"/>
              </a:rPr>
              <a:t>KẾ HOẠCH QUẢN LÝ · QUY TRÌNH KỸ THUẬT</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84B"/>
                </a:solidFill>
                <a:latin typeface="Be Vietnam Pro" pitchFamily="34" charset="0"/>
                <a:ea typeface="Be Vietnam Pro" pitchFamily="34" charset="-122"/>
                <a:cs typeface="Be Vietnam Pro" pitchFamily="34" charset="-120"/>
              </a:rPr>
              <a:t>Quy trình kỹ thuật</a:t>
            </a:r>
            <a:endParaRPr lang="en-US" sz="3200" dirty="0"/>
          </a:p>
        </p:txBody>
      </p:sp>
      <p:sp>
        <p:nvSpPr>
          <p:cNvPr id="4" name="Shape 2"/>
          <p:cNvSpPr/>
          <p:nvPr/>
        </p:nvSpPr>
        <p:spPr>
          <a:xfrm>
            <a:off x="815975" y="1826816"/>
            <a:ext cx="3380284" cy="3105051"/>
          </a:xfrm>
          <a:prstGeom prst="roundRect">
            <a:avLst>
              <a:gd name="adj" fmla="val 3170"/>
            </a:avLst>
          </a:prstGeom>
          <a:solidFill>
            <a:srgbClr val="FDFCFA"/>
          </a:solidFill>
          <a:ln w="6350">
            <a:solidFill>
              <a:srgbClr val="D9DDE3"/>
            </a:solidFill>
            <a:prstDash val="solid"/>
          </a:ln>
        </p:spPr>
        <p:txBody>
          <a:bodyPr/>
          <a:lstStyle/>
          <a:p>
            <a:endParaRPr lang="en-VN"/>
          </a:p>
        </p:txBody>
      </p:sp>
      <p:pic>
        <p:nvPicPr>
          <p:cNvPr id="5" name="Image 0" descr="Code"/>
          <p:cNvPicPr>
            <a:picLocks noChangeAspect="1"/>
          </p:cNvPicPr>
          <p:nvPr/>
        </p:nvPicPr>
        <p:blipFill>
          <a:blip r:embed="rId3"/>
          <a:srcRect/>
          <a:stretch/>
        </p:blipFill>
        <p:spPr>
          <a:xfrm>
            <a:off x="1022350" y="2033191"/>
            <a:ext cx="254000" cy="254000"/>
          </a:xfrm>
          <a:prstGeom prst="rect">
            <a:avLst/>
          </a:prstGeom>
        </p:spPr>
      </p:pic>
      <p:sp>
        <p:nvSpPr>
          <p:cNvPr id="6" name="Text 3"/>
          <p:cNvSpPr/>
          <p:nvPr/>
        </p:nvSpPr>
        <p:spPr>
          <a:xfrm>
            <a:off x="1377950" y="2045891"/>
            <a:ext cx="204716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84B"/>
                </a:solidFill>
                <a:latin typeface="Be Vietnam Pro" pitchFamily="34" charset="0"/>
                <a:ea typeface="Be Vietnam Pro" pitchFamily="34" charset="-122"/>
                <a:cs typeface="Be Vietnam Pro" pitchFamily="34" charset="-120"/>
              </a:rPr>
              <a:t>Quản lý phiên bản</a:t>
            </a:r>
            <a:endParaRPr lang="en-US" sz="1500" dirty="0"/>
          </a:p>
        </p:txBody>
      </p:sp>
      <p:sp>
        <p:nvSpPr>
          <p:cNvPr id="7" name="Text 4"/>
          <p:cNvSpPr/>
          <p:nvPr/>
        </p:nvSpPr>
        <p:spPr>
          <a:xfrm>
            <a:off x="1114044" y="2414191"/>
            <a:ext cx="2957246" cy="2105571"/>
          </a:xfrm>
          <a:prstGeom prst="rect">
            <a:avLst/>
          </a:prstGeom>
          <a:noFill/>
          <a:ln/>
        </p:spPr>
        <p:txBody>
          <a:bodyPr wrap="square" lIns="0" tIns="0" rIns="0" bIns="0" rtlCol="0" anchor="t">
            <a:normAutofit/>
          </a:bodyPr>
          <a:lstStyle/>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Repository GitHub riêng: /src, /docs, /meetings</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GitHub Flow, nhánh main được bảo vệ</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Pull Request: ít nhất 1 người duyệt và CI xanh</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Commit theo Conventional Commits</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Gắn tag phiên bản theo từng mốc</a:t>
            </a:r>
            <a:endParaRPr lang="en-US" sz="1300" dirty="0"/>
          </a:p>
        </p:txBody>
      </p:sp>
      <p:sp>
        <p:nvSpPr>
          <p:cNvPr id="8" name="Shape 5"/>
          <p:cNvSpPr/>
          <p:nvPr/>
        </p:nvSpPr>
        <p:spPr>
          <a:xfrm>
            <a:off x="4405809" y="1826816"/>
            <a:ext cx="3380333" cy="3105051"/>
          </a:xfrm>
          <a:prstGeom prst="roundRect">
            <a:avLst>
              <a:gd name="adj" fmla="val 3170"/>
            </a:avLst>
          </a:prstGeom>
          <a:solidFill>
            <a:srgbClr val="FDFCFA"/>
          </a:solidFill>
          <a:ln w="6350">
            <a:solidFill>
              <a:srgbClr val="D9DDE3"/>
            </a:solidFill>
            <a:prstDash val="solid"/>
          </a:ln>
        </p:spPr>
        <p:txBody>
          <a:bodyPr/>
          <a:lstStyle/>
          <a:p>
            <a:endParaRPr lang="en-VN"/>
          </a:p>
        </p:txBody>
      </p:sp>
      <p:pic>
        <p:nvPicPr>
          <p:cNvPr id="9" name="Image 1" descr="Settings"/>
          <p:cNvPicPr>
            <a:picLocks noChangeAspect="1"/>
          </p:cNvPicPr>
          <p:nvPr/>
        </p:nvPicPr>
        <p:blipFill>
          <a:blip r:embed="rId4"/>
          <a:srcRect/>
          <a:stretch/>
        </p:blipFill>
        <p:spPr>
          <a:xfrm>
            <a:off x="4612184" y="2033191"/>
            <a:ext cx="254000" cy="254000"/>
          </a:xfrm>
          <a:prstGeom prst="rect">
            <a:avLst/>
          </a:prstGeom>
        </p:spPr>
      </p:pic>
      <p:sp>
        <p:nvSpPr>
          <p:cNvPr id="10" name="Text 6"/>
          <p:cNvSpPr/>
          <p:nvPr/>
        </p:nvSpPr>
        <p:spPr>
          <a:xfrm>
            <a:off x="4967784" y="2045891"/>
            <a:ext cx="228510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84B"/>
                </a:solidFill>
                <a:latin typeface="Be Vietnam Pro" pitchFamily="34" charset="0"/>
                <a:ea typeface="Be Vietnam Pro" pitchFamily="34" charset="-122"/>
                <a:cs typeface="Be Vietnam Pro" pitchFamily="34" charset="-120"/>
              </a:rPr>
              <a:t>Môi trường, công cụ</a:t>
            </a:r>
            <a:endParaRPr lang="en-US" sz="1500" dirty="0"/>
          </a:p>
        </p:txBody>
      </p:sp>
      <p:sp>
        <p:nvSpPr>
          <p:cNvPr id="11" name="Text 7"/>
          <p:cNvSpPr/>
          <p:nvPr/>
        </p:nvSpPr>
        <p:spPr>
          <a:xfrm>
            <a:off x="4703878" y="2414191"/>
            <a:ext cx="2957297" cy="2336701"/>
          </a:xfrm>
          <a:prstGeom prst="rect">
            <a:avLst/>
          </a:prstGeom>
          <a:noFill/>
          <a:ln/>
        </p:spPr>
        <p:txBody>
          <a:bodyPr wrap="square" lIns="0" tIns="0" rIns="0" bIns="0" rtlCol="0" anchor="t">
            <a:normAutofit/>
          </a:bodyPr>
          <a:lstStyle/>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Java 21, Spring Boot 3; React, TypeScript</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PostgreSQL, MinIO lưu tệp đính kèm</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Docker Compose cho môi trường đồng nhất</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GitHub Actions, SonarCloud, JaCoCo</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GitHub Projects, Figma, StarUML/PlantUML</a:t>
            </a:r>
            <a:endParaRPr lang="en-US" sz="1300" dirty="0"/>
          </a:p>
        </p:txBody>
      </p:sp>
      <p:sp>
        <p:nvSpPr>
          <p:cNvPr id="12" name="Shape 8"/>
          <p:cNvSpPr/>
          <p:nvPr/>
        </p:nvSpPr>
        <p:spPr>
          <a:xfrm>
            <a:off x="7995692" y="1826816"/>
            <a:ext cx="3380333" cy="3105051"/>
          </a:xfrm>
          <a:prstGeom prst="roundRect">
            <a:avLst>
              <a:gd name="adj" fmla="val 3170"/>
            </a:avLst>
          </a:prstGeom>
          <a:solidFill>
            <a:srgbClr val="FDFCFA"/>
          </a:solidFill>
          <a:ln w="6350">
            <a:solidFill>
              <a:srgbClr val="D9DDE3"/>
            </a:solidFill>
            <a:prstDash val="solid"/>
          </a:ln>
        </p:spPr>
        <p:txBody>
          <a:bodyPr/>
          <a:lstStyle/>
          <a:p>
            <a:endParaRPr lang="en-VN"/>
          </a:p>
        </p:txBody>
      </p:sp>
      <p:pic>
        <p:nvPicPr>
          <p:cNvPr id="13" name="Image 2" descr="Book"/>
          <p:cNvPicPr>
            <a:picLocks noChangeAspect="1"/>
          </p:cNvPicPr>
          <p:nvPr/>
        </p:nvPicPr>
        <p:blipFill>
          <a:blip r:embed="rId5"/>
          <a:srcRect/>
          <a:stretch/>
        </p:blipFill>
        <p:spPr>
          <a:xfrm>
            <a:off x="8202067" y="2033191"/>
            <a:ext cx="254000" cy="254000"/>
          </a:xfrm>
          <a:prstGeom prst="rect">
            <a:avLst/>
          </a:prstGeom>
        </p:spPr>
      </p:pic>
      <p:sp>
        <p:nvSpPr>
          <p:cNvPr id="14" name="Text 9"/>
          <p:cNvSpPr/>
          <p:nvPr/>
        </p:nvSpPr>
        <p:spPr>
          <a:xfrm>
            <a:off x="8557667" y="2045891"/>
            <a:ext cx="205924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84B"/>
                </a:solidFill>
                <a:latin typeface="Be Vietnam Pro" pitchFamily="34" charset="0"/>
                <a:ea typeface="Be Vietnam Pro" pitchFamily="34" charset="-122"/>
                <a:cs typeface="Be Vietnam Pro" pitchFamily="34" charset="-120"/>
              </a:rPr>
              <a:t>Chuẩn mã, tài liệu</a:t>
            </a:r>
            <a:endParaRPr lang="en-US" sz="1500" dirty="0"/>
          </a:p>
        </p:txBody>
      </p:sp>
      <p:sp>
        <p:nvSpPr>
          <p:cNvPr id="15" name="Text 10"/>
          <p:cNvSpPr/>
          <p:nvPr/>
        </p:nvSpPr>
        <p:spPr>
          <a:xfrm>
            <a:off x="8293761" y="2414191"/>
            <a:ext cx="2957297" cy="2105571"/>
          </a:xfrm>
          <a:prstGeom prst="rect">
            <a:avLst/>
          </a:prstGeom>
          <a:noFill/>
          <a:ln/>
        </p:spPr>
        <p:txBody>
          <a:bodyPr wrap="square" lIns="0" tIns="0" rIns="0" bIns="0" rtlCol="0" anchor="t">
            <a:normAutofit/>
          </a:bodyPr>
          <a:lstStyle/>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Google Java Style, Checkstyle; ESLint, Prettier</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REST API mô tả bằng OpenAPI 3</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Unit test phủ tối thiểu 70% tầng service</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SRS theo ISO/IEC/IEEE 29148, SDD theo IEEE 1016</a:t>
            </a:r>
            <a:endParaRPr lang="en-US" sz="1300" dirty="0"/>
          </a:p>
          <a:p>
            <a:pPr marL="162306" indent="-162306" algn="l">
              <a:lnSpc>
                <a:spcPts val="1820"/>
              </a:lnSpc>
              <a:buSzPct val="100000"/>
              <a:buChar char="•"/>
            </a:pPr>
            <a:r>
              <a:rPr lang="en-US" sz="1300" dirty="0">
                <a:solidFill>
                  <a:srgbClr val="3E4A5C"/>
                </a:solidFill>
                <a:latin typeface="Be Vietnam Pro" pitchFamily="34" charset="0"/>
                <a:ea typeface="Be Vietnam Pro" pitchFamily="34" charset="-122"/>
                <a:cs typeface="Be Vietnam Pro" pitchFamily="34" charset="-120"/>
              </a:rPr>
              <a:t>Tài liệu kiểm thử theo ISO/IEC/IEEE 29119-3</a:t>
            </a:r>
            <a:endParaRPr lang="en-US" sz="1300" dirty="0"/>
          </a:p>
        </p:txBody>
      </p:sp>
      <p:sp>
        <p:nvSpPr>
          <p:cNvPr id="16"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e-HoSo · Project Plan · Nhóm INS6021</a:t>
            </a:r>
            <a:endParaRPr lang="en-US" sz="1200" dirty="0"/>
          </a:p>
        </p:txBody>
      </p:sp>
      <p:sp>
        <p:nvSpPr>
          <p:cNvPr id="17" name="Text 1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23A2E"/>
                </a:solidFill>
                <a:latin typeface="Be Vietnam Pro" pitchFamily="34" charset="0"/>
                <a:ea typeface="Be Vietnam Pro" pitchFamily="34" charset="-122"/>
                <a:cs typeface="Be Vietnam Pro" pitchFamily="34" charset="-120"/>
              </a:rPr>
              <a:t>KẾ HOẠCH QUẢN LÝ · CHỈ SỐ DỰ ÁN</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84B"/>
                </a:solidFill>
                <a:latin typeface="Be Vietnam Pro" pitchFamily="34" charset="0"/>
                <a:ea typeface="Be Vietnam Pro" pitchFamily="34" charset="-122"/>
                <a:cs typeface="Be Vietnam Pro" pitchFamily="34" charset="-120"/>
              </a:rPr>
              <a:t>8 chỉ số xem lại tại mỗi họp tuần</a:t>
            </a:r>
            <a:endParaRPr lang="en-US" sz="3200" dirty="0"/>
          </a:p>
        </p:txBody>
      </p:sp>
      <p:sp>
        <p:nvSpPr>
          <p:cNvPr id="4" name="Shape 2"/>
          <p:cNvSpPr/>
          <p:nvPr/>
        </p:nvSpPr>
        <p:spPr>
          <a:xfrm>
            <a:off x="812800" y="1772841"/>
            <a:ext cx="10566400" cy="3220145"/>
          </a:xfrm>
          <a:prstGeom prst="rect">
            <a:avLst/>
          </a:prstGeom>
          <a:solidFill>
            <a:srgbClr val="FDFCFA"/>
          </a:solidFill>
          <a:ln/>
        </p:spPr>
        <p:txBody>
          <a:bodyPr/>
          <a:lstStyle/>
          <a:p>
            <a:endParaRPr lang="en-VN"/>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85541"/>
          <a:ext cx="10553700" cy="3207441"/>
        </p:xfrm>
        <a:graphic>
          <a:graphicData uri="http://schemas.openxmlformats.org/drawingml/2006/table">
            <a:tbl>
              <a:tblPr/>
              <a:tblGrid>
                <a:gridCol w="2743962">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1266444">
                  <a:extLst>
                    <a:ext uri="{9D8B030D-6E8A-4147-A177-3AD203B41FA5}">
                      <a16:colId xmlns:a16="http://schemas.microsoft.com/office/drawing/2014/main" val="20003"/>
                    </a:ext>
                  </a:extLst>
                </a:gridCol>
                <a:gridCol w="1688592">
                  <a:extLst>
                    <a:ext uri="{9D8B030D-6E8A-4147-A177-3AD203B41FA5}">
                      <a16:colId xmlns:a16="http://schemas.microsoft.com/office/drawing/2014/main" val="20004"/>
                    </a:ext>
                  </a:extLst>
                </a:gridCol>
              </a:tblGrid>
              <a:tr h="332680">
                <a:tc>
                  <a:txBody>
                    <a:bodyPr/>
                    <a:lstStyle/>
                    <a:p>
                      <a:pPr marL="0" indent="0">
                        <a:lnSpc>
                          <a:spcPts val="1680"/>
                        </a:lnSpc>
                        <a:buNone/>
                      </a:pPr>
                      <a:r>
                        <a:rPr lang="en-US" sz="1200" b="1" dirty="0">
                          <a:solidFill>
                            <a:srgbClr val="14284B"/>
                          </a:solidFill>
                          <a:latin typeface="Be Vietnam Pro" pitchFamily="34" charset="0"/>
                          <a:ea typeface="Be Vietnam Pro" pitchFamily="34" charset="-122"/>
                          <a:cs typeface="Be Vietnam Pro" pitchFamily="34" charset="-120"/>
                        </a:rPr>
                        <a:t>Chỉ số</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nSpc>
                          <a:spcPts val="1680"/>
                        </a:lnSpc>
                        <a:buNone/>
                      </a:pPr>
                      <a:r>
                        <a:rPr lang="en-US" sz="1200" b="1" dirty="0">
                          <a:solidFill>
                            <a:srgbClr val="14284B"/>
                          </a:solidFill>
                          <a:latin typeface="Be Vietnam Pro" pitchFamily="34" charset="0"/>
                          <a:ea typeface="Be Vietnam Pro" pitchFamily="34" charset="-122"/>
                          <a:cs typeface="Be Vietnam Pro" pitchFamily="34" charset="-120"/>
                        </a:rPr>
                        <a:t>Mục đích</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nSpc>
                          <a:spcPts val="1680"/>
                        </a:lnSpc>
                        <a:buNone/>
                      </a:pPr>
                      <a:r>
                        <a:rPr lang="en-US" sz="1200" b="1" dirty="0">
                          <a:solidFill>
                            <a:srgbClr val="14284B"/>
                          </a:solidFill>
                          <a:latin typeface="Be Vietnam Pro" pitchFamily="34" charset="0"/>
                          <a:ea typeface="Be Vietnam Pro" pitchFamily="34" charset="-122"/>
                          <a:cs typeface="Be Vietnam Pro" pitchFamily="34" charset="-120"/>
                        </a:rPr>
                        <a:t>Cách thu thập</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nSpc>
                          <a:spcPts val="1680"/>
                        </a:lnSpc>
                        <a:buNone/>
                      </a:pPr>
                      <a:r>
                        <a:rPr lang="en-US" sz="1200" b="1" dirty="0">
                          <a:solidFill>
                            <a:srgbClr val="14284B"/>
                          </a:solidFill>
                          <a:latin typeface="Be Vietnam Pro" pitchFamily="34" charset="0"/>
                          <a:ea typeface="Be Vietnam Pro" pitchFamily="34" charset="-122"/>
                          <a:cs typeface="Be Vietnam Pro" pitchFamily="34" charset="-120"/>
                        </a:rPr>
                        <a:t>Phụ trách</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nSpc>
                          <a:spcPts val="1680"/>
                        </a:lnSpc>
                        <a:buNone/>
                      </a:pPr>
                      <a:r>
                        <a:rPr lang="en-US" sz="1200" b="1" dirty="0">
                          <a:solidFill>
                            <a:srgbClr val="14284B"/>
                          </a:solidFill>
                          <a:latin typeface="Be Vietnam Pro" pitchFamily="34" charset="0"/>
                          <a:ea typeface="Be Vietnam Pro" pitchFamily="34" charset="-122"/>
                          <a:cs typeface="Be Vietnam Pro" pitchFamily="34" charset="-120"/>
                        </a:rPr>
                        <a:t>Ngưỡng cảnh báo</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Hoàn thành so với kế hoạch</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Phát hiện trễ tiến độ</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GitHub Projects</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Tiến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B23A2E"/>
                          </a:solidFill>
                          <a:latin typeface="Be Vietnam Pro" pitchFamily="34" charset="0"/>
                          <a:ea typeface="Be Vietnam Pro" pitchFamily="34" charset="-122"/>
                          <a:cs typeface="Be Vietnam Pro" pitchFamily="34" charset="-120"/>
                        </a:rPr>
                        <a:t>Chậm hơn 10%</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Nỗ lực thực tế so với ước lượng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Hiệu chỉnh ước lượng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Giờ ghi trên từng task</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Tiến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B23A2E"/>
                          </a:solidFill>
                          <a:latin typeface="Be Vietnam Pro" pitchFamily="34" charset="0"/>
                          <a:ea typeface="Be Vietnam Pro" pitchFamily="34" charset="-122"/>
                          <a:cs typeface="Be Vietnam Pro" pitchFamily="34" charset="-120"/>
                        </a:rPr>
                        <a:t>Lệch trên 20%</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Vận tốc sprint</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Lập kế hoạch sprint sau</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Story point đạt DoD</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Tiến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B23A2E"/>
                          </a:solidFill>
                          <a:latin typeface="Be Vietnam Pro" pitchFamily="34" charset="0"/>
                          <a:ea typeface="Be Vietnam Pro" pitchFamily="34" charset="-122"/>
                          <a:cs typeface="Be Vietnam Pro" pitchFamily="34" charset="-120"/>
                        </a:rPr>
                        <a:t>Giảm trên 25%</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Biến động yêu cầu</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Kiểm soát phạm vi</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Thay đổi sau SRS v1.0</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Tiến</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B23A2E"/>
                          </a:solidFill>
                          <a:latin typeface="Be Vietnam Pro" pitchFamily="34" charset="0"/>
                          <a:ea typeface="Be Vietnam Pro" pitchFamily="34" charset="-122"/>
                          <a:cs typeface="Be Vietnam Pro" pitchFamily="34" charset="-120"/>
                        </a:rPr>
                        <a:t>Trên 15%</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4"/>
                  </a:ext>
                </a:extLst>
              </a:tr>
              <a:tr h="546001">
                <a:tc>
                  <a:txBody>
                    <a:bodyPr/>
                    <a:lstStyle/>
                    <a:p>
                      <a:pPr marL="0" indent="0">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Độ phủ truy vết yêu cầu</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Yêu cầu nào cũng được kiểm thử</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Ma trận truy vết RTM</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Đạt</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B23A2E"/>
                          </a:solidFill>
                          <a:latin typeface="Be Vietnam Pro" pitchFamily="34" charset="0"/>
                          <a:ea typeface="Be Vietnam Pro" pitchFamily="34" charset="-122"/>
                          <a:cs typeface="Be Vietnam Pro" pitchFamily="34" charset="-120"/>
                        </a:rPr>
                        <a:t>Dưới 100%</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Độ bao phủ unit test</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Chất lượng mã</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JaCoCo trên CI</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Khang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B23A2E"/>
                          </a:solidFill>
                          <a:latin typeface="Be Vietnam Pro" pitchFamily="34" charset="0"/>
                          <a:ea typeface="Be Vietnam Pro" pitchFamily="34" charset="-122"/>
                          <a:cs typeface="Be Vietnam Pro" pitchFamily="34" charset="-120"/>
                        </a:rPr>
                        <a:t>Dưới 70%</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Lỗi theo mức độ nghiêm trọng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Mức sẵn sàng phát hành</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GitHub Issues</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Đạt</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B23A2E"/>
                          </a:solidFill>
                          <a:latin typeface="Be Vietnam Pro" pitchFamily="34" charset="0"/>
                          <a:ea typeface="Be Vietnam Pro" pitchFamily="34" charset="-122"/>
                          <a:cs typeface="Be Vietnam Pro" pitchFamily="34" charset="-120"/>
                        </a:rPr>
                        <a:t>Còn lỗi Critical</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7"/>
                  </a:ext>
                </a:extLst>
              </a:tr>
              <a:tr h="332680">
                <a:tc>
                  <a:txBody>
                    <a:bodyPr/>
                    <a:lstStyle/>
                    <a:p>
                      <a:pPr marL="0" indent="0">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Thời gian duyệt Pull Request</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Tránh tắc nghẽn tích hợp</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Thống kê PR trên GitHub</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Khang</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nSpc>
                          <a:spcPts val="1680"/>
                        </a:lnSpc>
                        <a:buNone/>
                      </a:pPr>
                      <a:r>
                        <a:rPr lang="en-US" sz="1200" dirty="0">
                          <a:solidFill>
                            <a:srgbClr val="B23A2E"/>
                          </a:solidFill>
                          <a:latin typeface="Be Vietnam Pro" pitchFamily="34" charset="0"/>
                          <a:ea typeface="Be Vietnam Pro" pitchFamily="34" charset="-122"/>
                          <a:cs typeface="Be Vietnam Pro" pitchFamily="34" charset="-120"/>
                        </a:rPr>
                        <a:t>Trên 48 giờ</a:t>
                      </a:r>
                      <a:endParaRPr lang="en-US" sz="1200" dirty="0">
                        <a:latin typeface="Be Vietnam Pro" charset="0"/>
                        <a:ea typeface="Be Vietnam Pro" charset="0"/>
                        <a:cs typeface="Be Vietnam Pro"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 3"/>
          <p:cNvSpPr/>
          <p:nvPr/>
        </p:nvSpPr>
        <p:spPr>
          <a:xfrm>
            <a:off x="812800" y="5196185"/>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Thành viên cập nhật task trước 20:00 Chủ nhật; PM tổng hợp báo cáo tiến độ một trang; chỉ số vượt ngưỡng có hành động khắc phục ghi trong biên bản.</a:t>
            </a:r>
            <a:endParaRPr lang="en-US" sz="1200" dirty="0"/>
          </a:p>
        </p:txBody>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e-HoSo · Project Plan · Nhóm INS6021</a:t>
            </a:r>
            <a:endParaRPr lang="en-US" sz="1200" dirty="0"/>
          </a:p>
        </p:txBody>
      </p:sp>
      <p:sp>
        <p:nvSpPr>
          <p:cNvPr id="8" name="Text 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23A2E"/>
                </a:solidFill>
                <a:latin typeface="Be Vietnam Pro" pitchFamily="34" charset="0"/>
                <a:ea typeface="Be Vietnam Pro" pitchFamily="34" charset="-122"/>
                <a:cs typeface="Be Vietnam Pro" pitchFamily="34" charset="-120"/>
              </a:rPr>
              <a:t>KẾ HOẠCH PHÁT TRIỂN PHẦN MỀM BAN ĐẦU</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84B"/>
                </a:solidFill>
                <a:latin typeface="Be Vietnam Pro" pitchFamily="34" charset="0"/>
                <a:ea typeface="Be Vietnam Pro" pitchFamily="34" charset="-122"/>
                <a:cs typeface="Be Vietnam Pro" pitchFamily="34" charset="-120"/>
              </a:rPr>
              <a:t>28 công việc, 325 giờ, kết thúc 06/12</a:t>
            </a:r>
            <a:endParaRPr lang="en-US" sz="3200" dirty="0"/>
          </a:p>
        </p:txBody>
      </p:sp>
      <p:sp>
        <p:nvSpPr>
          <p:cNvPr id="4" name="Text 2"/>
          <p:cNvSpPr/>
          <p:nvPr/>
        </p:nvSpPr>
        <p:spPr>
          <a:xfrm>
            <a:off x="812800" y="2110680"/>
            <a:ext cx="302171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23A2E"/>
                </a:solidFill>
                <a:latin typeface="Be Vietnam Pro" pitchFamily="34" charset="0"/>
                <a:ea typeface="Be Vietnam Pro" pitchFamily="34" charset="-122"/>
                <a:cs typeface="Be Vietnam Pro" pitchFamily="34" charset="-120"/>
              </a:rPr>
              <a:t>Khởi động, Project Plan</a:t>
            </a:r>
            <a:endParaRPr lang="en-US" sz="1200" dirty="0"/>
          </a:p>
        </p:txBody>
      </p:sp>
      <p:sp>
        <p:nvSpPr>
          <p:cNvPr id="5" name="Text 3"/>
          <p:cNvSpPr/>
          <p:nvPr/>
        </p:nvSpPr>
        <p:spPr>
          <a:xfrm>
            <a:off x="3746500" y="2110680"/>
            <a:ext cx="622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25h</a:t>
            </a:r>
            <a:endParaRPr lang="en-US" sz="1200" dirty="0"/>
          </a:p>
        </p:txBody>
      </p:sp>
      <p:sp>
        <p:nvSpPr>
          <p:cNvPr id="6" name="Text 4"/>
          <p:cNvSpPr/>
          <p:nvPr/>
        </p:nvSpPr>
        <p:spPr>
          <a:xfrm>
            <a:off x="812800" y="2491680"/>
            <a:ext cx="3021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Yêu cầu, CI: SRS, RTM</a:t>
            </a:r>
            <a:endParaRPr lang="en-US" sz="1200" dirty="0"/>
          </a:p>
        </p:txBody>
      </p:sp>
      <p:sp>
        <p:nvSpPr>
          <p:cNvPr id="7" name="Text 5"/>
          <p:cNvSpPr/>
          <p:nvPr/>
        </p:nvSpPr>
        <p:spPr>
          <a:xfrm>
            <a:off x="3746500" y="2491680"/>
            <a:ext cx="622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34h</a:t>
            </a:r>
            <a:endParaRPr lang="en-US" sz="1200" dirty="0"/>
          </a:p>
        </p:txBody>
      </p:sp>
      <p:sp>
        <p:nvSpPr>
          <p:cNvPr id="8" name="Text 6"/>
          <p:cNvSpPr/>
          <p:nvPr/>
        </p:nvSpPr>
        <p:spPr>
          <a:xfrm>
            <a:off x="812800" y="2872680"/>
            <a:ext cx="3021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Thiết kế: SDD, CSDL, UI, test</a:t>
            </a:r>
            <a:endParaRPr lang="en-US" sz="1200" dirty="0"/>
          </a:p>
        </p:txBody>
      </p:sp>
      <p:sp>
        <p:nvSpPr>
          <p:cNvPr id="9" name="Text 7"/>
          <p:cNvSpPr/>
          <p:nvPr/>
        </p:nvSpPr>
        <p:spPr>
          <a:xfrm>
            <a:off x="3746500" y="2872680"/>
            <a:ext cx="622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58h</a:t>
            </a:r>
            <a:endParaRPr lang="en-US" sz="1200" dirty="0"/>
          </a:p>
        </p:txBody>
      </p:sp>
      <p:sp>
        <p:nvSpPr>
          <p:cNvPr id="10" name="Text 8"/>
          <p:cNvSpPr/>
          <p:nvPr/>
        </p:nvSpPr>
        <p:spPr>
          <a:xfrm>
            <a:off x="812800" y="3253680"/>
            <a:ext cx="3021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Sprint 1 – cổng người dân</a:t>
            </a:r>
            <a:endParaRPr lang="en-US" sz="1200" dirty="0"/>
          </a:p>
        </p:txBody>
      </p:sp>
      <p:sp>
        <p:nvSpPr>
          <p:cNvPr id="11" name="Text 9"/>
          <p:cNvSpPr/>
          <p:nvPr/>
        </p:nvSpPr>
        <p:spPr>
          <a:xfrm>
            <a:off x="3746500" y="3253680"/>
            <a:ext cx="622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70h</a:t>
            </a:r>
            <a:endParaRPr lang="en-US" sz="1200" dirty="0"/>
          </a:p>
        </p:txBody>
      </p:sp>
      <p:sp>
        <p:nvSpPr>
          <p:cNvPr id="12" name="Text 10"/>
          <p:cNvSpPr/>
          <p:nvPr/>
        </p:nvSpPr>
        <p:spPr>
          <a:xfrm>
            <a:off x="812800" y="3634680"/>
            <a:ext cx="3021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Sprint 2 – phân hệ cán bộ</a:t>
            </a:r>
            <a:endParaRPr lang="en-US" sz="1200" dirty="0"/>
          </a:p>
        </p:txBody>
      </p:sp>
      <p:sp>
        <p:nvSpPr>
          <p:cNvPr id="13" name="Text 11"/>
          <p:cNvSpPr/>
          <p:nvPr/>
        </p:nvSpPr>
        <p:spPr>
          <a:xfrm>
            <a:off x="3746500" y="3634680"/>
            <a:ext cx="622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66h</a:t>
            </a:r>
            <a:endParaRPr lang="en-US" sz="1200" dirty="0"/>
          </a:p>
        </p:txBody>
      </p:sp>
      <p:sp>
        <p:nvSpPr>
          <p:cNvPr id="14" name="Text 12"/>
          <p:cNvSpPr/>
          <p:nvPr/>
        </p:nvSpPr>
        <p:spPr>
          <a:xfrm>
            <a:off x="812800" y="4015680"/>
            <a:ext cx="3021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UAT, bảo mật, demo, hướng dẫn</a:t>
            </a:r>
            <a:endParaRPr lang="en-US" sz="1200" dirty="0"/>
          </a:p>
        </p:txBody>
      </p:sp>
      <p:sp>
        <p:nvSpPr>
          <p:cNvPr id="15" name="Text 13"/>
          <p:cNvSpPr/>
          <p:nvPr/>
        </p:nvSpPr>
        <p:spPr>
          <a:xfrm>
            <a:off x="3746500" y="4015680"/>
            <a:ext cx="622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24h</a:t>
            </a:r>
            <a:endParaRPr lang="en-US" sz="1200" dirty="0"/>
          </a:p>
        </p:txBody>
      </p:sp>
      <p:sp>
        <p:nvSpPr>
          <p:cNvPr id="16" name="Text 14"/>
          <p:cNvSpPr/>
          <p:nvPr/>
        </p:nvSpPr>
        <p:spPr>
          <a:xfrm>
            <a:off x="812800" y="4396680"/>
            <a:ext cx="3021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Báo cáo cuối kỳ, bảo vệ</a:t>
            </a:r>
            <a:endParaRPr lang="en-US" sz="1200" dirty="0"/>
          </a:p>
        </p:txBody>
      </p:sp>
      <p:sp>
        <p:nvSpPr>
          <p:cNvPr id="17" name="Text 15"/>
          <p:cNvSpPr/>
          <p:nvPr/>
        </p:nvSpPr>
        <p:spPr>
          <a:xfrm>
            <a:off x="3746500" y="4396680"/>
            <a:ext cx="622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35h</a:t>
            </a:r>
            <a:endParaRPr lang="en-US" sz="1200" dirty="0"/>
          </a:p>
        </p:txBody>
      </p:sp>
      <p:sp>
        <p:nvSpPr>
          <p:cNvPr id="18" name="Text 16"/>
          <p:cNvSpPr/>
          <p:nvPr/>
        </p:nvSpPr>
        <p:spPr>
          <a:xfrm>
            <a:off x="812800" y="4777680"/>
            <a:ext cx="3021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Quản lý dự án</a:t>
            </a:r>
            <a:endParaRPr lang="en-US" sz="1200" dirty="0"/>
          </a:p>
        </p:txBody>
      </p:sp>
      <p:sp>
        <p:nvSpPr>
          <p:cNvPr id="19" name="Text 17"/>
          <p:cNvSpPr/>
          <p:nvPr/>
        </p:nvSpPr>
        <p:spPr>
          <a:xfrm>
            <a:off x="3746500" y="4777680"/>
            <a:ext cx="622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13h</a:t>
            </a:r>
            <a:endParaRPr lang="en-US" sz="1200" dirty="0"/>
          </a:p>
        </p:txBody>
      </p:sp>
      <p:sp>
        <p:nvSpPr>
          <p:cNvPr id="20" name="Shape 18"/>
          <p:cNvSpPr/>
          <p:nvPr/>
        </p:nvSpPr>
        <p:spPr>
          <a:xfrm>
            <a:off x="6197600" y="1976041"/>
            <a:ext cx="12700" cy="3098800"/>
          </a:xfrm>
          <a:prstGeom prst="rect">
            <a:avLst/>
          </a:prstGeom>
          <a:solidFill>
            <a:srgbClr val="D9DDE3"/>
          </a:solidFill>
          <a:ln/>
        </p:spPr>
        <p:txBody>
          <a:bodyPr/>
          <a:lstStyle/>
          <a:p>
            <a:endParaRPr lang="en-VN"/>
          </a:p>
        </p:txBody>
      </p:sp>
      <p:sp>
        <p:nvSpPr>
          <p:cNvPr id="21" name="Shape 19"/>
          <p:cNvSpPr/>
          <p:nvPr/>
        </p:nvSpPr>
        <p:spPr>
          <a:xfrm>
            <a:off x="8153400" y="1976041"/>
            <a:ext cx="12700" cy="3098800"/>
          </a:xfrm>
          <a:prstGeom prst="rect">
            <a:avLst/>
          </a:prstGeom>
          <a:solidFill>
            <a:srgbClr val="D9DDE3"/>
          </a:solidFill>
          <a:ln/>
        </p:spPr>
        <p:txBody>
          <a:bodyPr/>
          <a:lstStyle/>
          <a:p>
            <a:endParaRPr lang="en-VN"/>
          </a:p>
        </p:txBody>
      </p:sp>
      <p:sp>
        <p:nvSpPr>
          <p:cNvPr id="22" name="Shape 20"/>
          <p:cNvSpPr/>
          <p:nvPr/>
        </p:nvSpPr>
        <p:spPr>
          <a:xfrm>
            <a:off x="10388600" y="1976041"/>
            <a:ext cx="12700" cy="3098800"/>
          </a:xfrm>
          <a:prstGeom prst="rect">
            <a:avLst/>
          </a:prstGeom>
          <a:solidFill>
            <a:srgbClr val="D9DDE3"/>
          </a:solidFill>
          <a:ln/>
        </p:spPr>
        <p:txBody>
          <a:bodyPr/>
          <a:lstStyle/>
          <a:p>
            <a:endParaRPr lang="en-VN"/>
          </a:p>
        </p:txBody>
      </p:sp>
      <p:sp>
        <p:nvSpPr>
          <p:cNvPr id="23" name="Shape 21"/>
          <p:cNvSpPr/>
          <p:nvPr/>
        </p:nvSpPr>
        <p:spPr>
          <a:xfrm>
            <a:off x="5156200" y="1976041"/>
            <a:ext cx="0" cy="3098800"/>
          </a:xfrm>
          <a:prstGeom prst="line">
            <a:avLst/>
          </a:prstGeom>
          <a:noFill/>
          <a:ln w="12700">
            <a:solidFill>
              <a:srgbClr val="B23A2E"/>
            </a:solidFill>
            <a:prstDash val="dash"/>
          </a:ln>
        </p:spPr>
        <p:txBody>
          <a:bodyPr/>
          <a:lstStyle/>
          <a:p>
            <a:endParaRPr lang="en-VN"/>
          </a:p>
        </p:txBody>
      </p:sp>
      <p:sp>
        <p:nvSpPr>
          <p:cNvPr id="24" name="Text 22"/>
          <p:cNvSpPr/>
          <p:nvPr/>
        </p:nvSpPr>
        <p:spPr>
          <a:xfrm>
            <a:off x="4521200" y="1722041"/>
            <a:ext cx="685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20/10</a:t>
            </a:r>
            <a:endParaRPr lang="en-US" sz="1200" dirty="0"/>
          </a:p>
        </p:txBody>
      </p:sp>
      <p:sp>
        <p:nvSpPr>
          <p:cNvPr id="25" name="Text 23"/>
          <p:cNvSpPr/>
          <p:nvPr/>
        </p:nvSpPr>
        <p:spPr>
          <a:xfrm>
            <a:off x="6197600" y="1722041"/>
            <a:ext cx="685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01/11</a:t>
            </a:r>
            <a:endParaRPr lang="en-US" sz="1200" dirty="0"/>
          </a:p>
        </p:txBody>
      </p:sp>
      <p:sp>
        <p:nvSpPr>
          <p:cNvPr id="26" name="Text 24"/>
          <p:cNvSpPr/>
          <p:nvPr/>
        </p:nvSpPr>
        <p:spPr>
          <a:xfrm>
            <a:off x="8153400" y="1722041"/>
            <a:ext cx="685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15/11</a:t>
            </a:r>
            <a:endParaRPr lang="en-US" sz="1200" dirty="0"/>
          </a:p>
        </p:txBody>
      </p:sp>
      <p:sp>
        <p:nvSpPr>
          <p:cNvPr id="27" name="Text 25"/>
          <p:cNvSpPr/>
          <p:nvPr/>
        </p:nvSpPr>
        <p:spPr>
          <a:xfrm>
            <a:off x="10388600" y="1722041"/>
            <a:ext cx="685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01/12</a:t>
            </a:r>
            <a:endParaRPr lang="en-US" sz="1200" dirty="0"/>
          </a:p>
        </p:txBody>
      </p:sp>
      <p:sp>
        <p:nvSpPr>
          <p:cNvPr id="28" name="Shape 26"/>
          <p:cNvSpPr/>
          <p:nvPr/>
        </p:nvSpPr>
        <p:spPr>
          <a:xfrm>
            <a:off x="4521200" y="2128441"/>
            <a:ext cx="977900" cy="177800"/>
          </a:xfrm>
          <a:prstGeom prst="roundRect">
            <a:avLst>
              <a:gd name="adj" fmla="val 21429"/>
            </a:avLst>
          </a:prstGeom>
          <a:solidFill>
            <a:srgbClr val="B23A2E"/>
          </a:solidFill>
          <a:ln/>
        </p:spPr>
        <p:txBody>
          <a:bodyPr/>
          <a:lstStyle/>
          <a:p>
            <a:endParaRPr lang="en-VN"/>
          </a:p>
        </p:txBody>
      </p:sp>
      <p:sp>
        <p:nvSpPr>
          <p:cNvPr id="29" name="Shape 27"/>
          <p:cNvSpPr/>
          <p:nvPr/>
        </p:nvSpPr>
        <p:spPr>
          <a:xfrm>
            <a:off x="5499100" y="2509441"/>
            <a:ext cx="838200" cy="177800"/>
          </a:xfrm>
          <a:prstGeom prst="roundRect">
            <a:avLst>
              <a:gd name="adj" fmla="val 21429"/>
            </a:avLst>
          </a:prstGeom>
          <a:solidFill>
            <a:srgbClr val="14284B"/>
          </a:solidFill>
          <a:ln/>
        </p:spPr>
        <p:txBody>
          <a:bodyPr/>
          <a:lstStyle/>
          <a:p>
            <a:endParaRPr lang="en-VN"/>
          </a:p>
        </p:txBody>
      </p:sp>
      <p:sp>
        <p:nvSpPr>
          <p:cNvPr id="30" name="Shape 28"/>
          <p:cNvSpPr/>
          <p:nvPr/>
        </p:nvSpPr>
        <p:spPr>
          <a:xfrm>
            <a:off x="6337300" y="2890441"/>
            <a:ext cx="977900" cy="177800"/>
          </a:xfrm>
          <a:prstGeom prst="roundRect">
            <a:avLst>
              <a:gd name="adj" fmla="val 21429"/>
            </a:avLst>
          </a:prstGeom>
          <a:solidFill>
            <a:srgbClr val="14284B"/>
          </a:solidFill>
          <a:ln/>
        </p:spPr>
        <p:txBody>
          <a:bodyPr/>
          <a:lstStyle/>
          <a:p>
            <a:endParaRPr lang="en-VN"/>
          </a:p>
        </p:txBody>
      </p:sp>
      <p:sp>
        <p:nvSpPr>
          <p:cNvPr id="31" name="Shape 29"/>
          <p:cNvSpPr/>
          <p:nvPr/>
        </p:nvSpPr>
        <p:spPr>
          <a:xfrm>
            <a:off x="7315200" y="3271441"/>
            <a:ext cx="1676400" cy="177800"/>
          </a:xfrm>
          <a:prstGeom prst="roundRect">
            <a:avLst>
              <a:gd name="adj" fmla="val 21429"/>
            </a:avLst>
          </a:prstGeom>
          <a:solidFill>
            <a:srgbClr val="2F6DB5"/>
          </a:solidFill>
          <a:ln/>
        </p:spPr>
        <p:txBody>
          <a:bodyPr/>
          <a:lstStyle/>
          <a:p>
            <a:endParaRPr lang="en-VN"/>
          </a:p>
        </p:txBody>
      </p:sp>
      <p:sp>
        <p:nvSpPr>
          <p:cNvPr id="32" name="Shape 30"/>
          <p:cNvSpPr/>
          <p:nvPr/>
        </p:nvSpPr>
        <p:spPr>
          <a:xfrm>
            <a:off x="8991600" y="3652441"/>
            <a:ext cx="1397000" cy="177800"/>
          </a:xfrm>
          <a:prstGeom prst="roundRect">
            <a:avLst>
              <a:gd name="adj" fmla="val 21429"/>
            </a:avLst>
          </a:prstGeom>
          <a:solidFill>
            <a:srgbClr val="2F6DB5"/>
          </a:solidFill>
          <a:ln/>
        </p:spPr>
        <p:txBody>
          <a:bodyPr/>
          <a:lstStyle/>
          <a:p>
            <a:endParaRPr lang="en-VN"/>
          </a:p>
        </p:txBody>
      </p:sp>
      <p:sp>
        <p:nvSpPr>
          <p:cNvPr id="33" name="Shape 31"/>
          <p:cNvSpPr/>
          <p:nvPr/>
        </p:nvSpPr>
        <p:spPr>
          <a:xfrm>
            <a:off x="10248900" y="4033441"/>
            <a:ext cx="558800" cy="177800"/>
          </a:xfrm>
          <a:prstGeom prst="roundRect">
            <a:avLst>
              <a:gd name="adj" fmla="val 21429"/>
            </a:avLst>
          </a:prstGeom>
          <a:solidFill>
            <a:srgbClr val="14284B"/>
          </a:solidFill>
          <a:ln/>
        </p:spPr>
        <p:txBody>
          <a:bodyPr/>
          <a:lstStyle/>
          <a:p>
            <a:endParaRPr lang="en-VN"/>
          </a:p>
        </p:txBody>
      </p:sp>
      <p:sp>
        <p:nvSpPr>
          <p:cNvPr id="34" name="Shape 32"/>
          <p:cNvSpPr/>
          <p:nvPr/>
        </p:nvSpPr>
        <p:spPr>
          <a:xfrm>
            <a:off x="10248900" y="4414441"/>
            <a:ext cx="977900" cy="177800"/>
          </a:xfrm>
          <a:prstGeom prst="roundRect">
            <a:avLst>
              <a:gd name="adj" fmla="val 21429"/>
            </a:avLst>
          </a:prstGeom>
          <a:solidFill>
            <a:srgbClr val="14284B"/>
          </a:solidFill>
          <a:ln/>
        </p:spPr>
        <p:txBody>
          <a:bodyPr/>
          <a:lstStyle/>
          <a:p>
            <a:endParaRPr lang="en-VN"/>
          </a:p>
        </p:txBody>
      </p:sp>
      <p:sp>
        <p:nvSpPr>
          <p:cNvPr id="35" name="Shape 33"/>
          <p:cNvSpPr/>
          <p:nvPr/>
        </p:nvSpPr>
        <p:spPr>
          <a:xfrm>
            <a:off x="5499100" y="4795441"/>
            <a:ext cx="5727700" cy="177800"/>
          </a:xfrm>
          <a:prstGeom prst="roundRect">
            <a:avLst>
              <a:gd name="adj" fmla="val 21429"/>
            </a:avLst>
          </a:prstGeom>
          <a:solidFill>
            <a:srgbClr val="8A97A8"/>
          </a:solidFill>
          <a:ln/>
        </p:spPr>
        <p:txBody>
          <a:bodyPr/>
          <a:lstStyle/>
          <a:p>
            <a:endParaRPr lang="en-VN"/>
          </a:p>
        </p:txBody>
      </p:sp>
      <p:sp>
        <p:nvSpPr>
          <p:cNvPr id="36" name="Text 34"/>
          <p:cNvSpPr/>
          <p:nvPr/>
        </p:nvSpPr>
        <p:spPr>
          <a:xfrm>
            <a:off x="812800" y="5227241"/>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Đỏ: đang thực hiện · Xanh dương: sprint xây dựng · Xám: quản lý xuyên suốt · Nét đứt: hôm nay 25/10. Đủ 28 công việc ở Mục 8 của ProjectPlan</a:t>
            </a:r>
            <a:endParaRPr lang="en-US" sz="1200" dirty="0"/>
          </a:p>
        </p:txBody>
      </p:sp>
      <p:sp>
        <p:nvSpPr>
          <p:cNvPr id="37" name="Text 3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e-HoSo · Project Plan · Nhóm INS6021</a:t>
            </a:r>
            <a:endParaRPr lang="en-US" sz="1200" dirty="0"/>
          </a:p>
        </p:txBody>
      </p:sp>
      <p:sp>
        <p:nvSpPr>
          <p:cNvPr id="38" name="Text 3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F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23A2E"/>
                </a:solidFill>
                <a:latin typeface="Be Vietnam Pro" pitchFamily="34" charset="0"/>
                <a:ea typeface="Be Vietnam Pro" pitchFamily="34" charset="-122"/>
                <a:cs typeface="Be Vietnam Pro" pitchFamily="34" charset="-120"/>
              </a:rPr>
              <a:t>KẾ HOẠCH PHÁT TRIỂN · PHÂN BỔ KHỐI LƯỢNG</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84B"/>
                </a:solidFill>
                <a:latin typeface="Be Vietnam Pro" pitchFamily="34" charset="0"/>
                <a:ea typeface="Be Vietnam Pro" pitchFamily="34" charset="-122"/>
                <a:cs typeface="Be Vietnam Pro" pitchFamily="34" charset="-120"/>
              </a:rPr>
              <a:t>Mỗi người đúng 65 giờ, 20% công việc</a:t>
            </a:r>
            <a:endParaRPr lang="en-US" sz="3200" dirty="0"/>
          </a:p>
        </p:txBody>
      </p:sp>
      <p:sp>
        <p:nvSpPr>
          <p:cNvPr id="4" name="Shape 2"/>
          <p:cNvSpPr/>
          <p:nvPr/>
        </p:nvSpPr>
        <p:spPr>
          <a:xfrm>
            <a:off x="812800" y="1790601"/>
            <a:ext cx="177800" cy="177800"/>
          </a:xfrm>
          <a:prstGeom prst="roundRect">
            <a:avLst>
              <a:gd name="adj" fmla="val 14286"/>
            </a:avLst>
          </a:prstGeom>
          <a:solidFill>
            <a:srgbClr val="14284B"/>
          </a:solidFill>
          <a:ln/>
        </p:spPr>
        <p:txBody>
          <a:bodyPr/>
          <a:lstStyle/>
          <a:p>
            <a:endParaRPr lang="en-VN"/>
          </a:p>
        </p:txBody>
      </p:sp>
      <p:sp>
        <p:nvSpPr>
          <p:cNvPr id="5" name="Text 3"/>
          <p:cNvSpPr/>
          <p:nvPr/>
        </p:nvSpPr>
        <p:spPr>
          <a:xfrm>
            <a:off x="1066800" y="1772841"/>
            <a:ext cx="15452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Quản lý, phân tích</a:t>
            </a:r>
            <a:endParaRPr lang="en-US" sz="1200" dirty="0"/>
          </a:p>
        </p:txBody>
      </p:sp>
      <p:sp>
        <p:nvSpPr>
          <p:cNvPr id="6" name="Shape 4"/>
          <p:cNvSpPr/>
          <p:nvPr/>
        </p:nvSpPr>
        <p:spPr>
          <a:xfrm>
            <a:off x="2612082" y="1790601"/>
            <a:ext cx="177800" cy="177800"/>
          </a:xfrm>
          <a:prstGeom prst="roundRect">
            <a:avLst>
              <a:gd name="adj" fmla="val 14286"/>
            </a:avLst>
          </a:prstGeom>
          <a:solidFill>
            <a:srgbClr val="2F6DB5"/>
          </a:solidFill>
          <a:ln/>
        </p:spPr>
        <p:txBody>
          <a:bodyPr/>
          <a:lstStyle/>
          <a:p>
            <a:endParaRPr lang="en-VN"/>
          </a:p>
        </p:txBody>
      </p:sp>
      <p:sp>
        <p:nvSpPr>
          <p:cNvPr id="7" name="Text 5"/>
          <p:cNvSpPr/>
          <p:nvPr/>
        </p:nvSpPr>
        <p:spPr>
          <a:xfrm>
            <a:off x="2866082" y="1772841"/>
            <a:ext cx="71836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Thiết kế</a:t>
            </a:r>
            <a:endParaRPr lang="en-US" sz="1200" dirty="0"/>
          </a:p>
        </p:txBody>
      </p:sp>
      <p:sp>
        <p:nvSpPr>
          <p:cNvPr id="8" name="Shape 6"/>
          <p:cNvSpPr/>
          <p:nvPr/>
        </p:nvSpPr>
        <p:spPr>
          <a:xfrm>
            <a:off x="3667919" y="1790601"/>
            <a:ext cx="177800" cy="177800"/>
          </a:xfrm>
          <a:prstGeom prst="roundRect">
            <a:avLst>
              <a:gd name="adj" fmla="val 14286"/>
            </a:avLst>
          </a:prstGeom>
          <a:solidFill>
            <a:srgbClr val="9DC0E8"/>
          </a:solidFill>
          <a:ln/>
        </p:spPr>
        <p:txBody>
          <a:bodyPr/>
          <a:lstStyle/>
          <a:p>
            <a:endParaRPr lang="en-VN"/>
          </a:p>
        </p:txBody>
      </p:sp>
      <p:sp>
        <p:nvSpPr>
          <p:cNvPr id="9" name="Text 7"/>
          <p:cNvSpPr/>
          <p:nvPr/>
        </p:nvSpPr>
        <p:spPr>
          <a:xfrm>
            <a:off x="3921919" y="1772841"/>
            <a:ext cx="16339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Lập trình, vận hành</a:t>
            </a:r>
            <a:endParaRPr lang="en-US" sz="1200" dirty="0"/>
          </a:p>
        </p:txBody>
      </p:sp>
      <p:sp>
        <p:nvSpPr>
          <p:cNvPr id="10" name="Shape 8"/>
          <p:cNvSpPr/>
          <p:nvPr/>
        </p:nvSpPr>
        <p:spPr>
          <a:xfrm>
            <a:off x="5555853" y="1790601"/>
            <a:ext cx="177800" cy="177800"/>
          </a:xfrm>
          <a:prstGeom prst="roundRect">
            <a:avLst>
              <a:gd name="adj" fmla="val 14286"/>
            </a:avLst>
          </a:prstGeom>
          <a:solidFill>
            <a:srgbClr val="D98A3D"/>
          </a:solidFill>
          <a:ln/>
        </p:spPr>
        <p:txBody>
          <a:bodyPr/>
          <a:lstStyle/>
          <a:p>
            <a:endParaRPr lang="en-VN"/>
          </a:p>
        </p:txBody>
      </p:sp>
      <p:sp>
        <p:nvSpPr>
          <p:cNvPr id="11" name="Text 9"/>
          <p:cNvSpPr/>
          <p:nvPr/>
        </p:nvSpPr>
        <p:spPr>
          <a:xfrm>
            <a:off x="5809853" y="1772841"/>
            <a:ext cx="78218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Kiểm thử</a:t>
            </a:r>
            <a:endParaRPr lang="en-US" sz="1200" dirty="0"/>
          </a:p>
        </p:txBody>
      </p:sp>
      <p:sp>
        <p:nvSpPr>
          <p:cNvPr id="12" name="Shape 10"/>
          <p:cNvSpPr/>
          <p:nvPr/>
        </p:nvSpPr>
        <p:spPr>
          <a:xfrm>
            <a:off x="6664871" y="1790601"/>
            <a:ext cx="177800" cy="177800"/>
          </a:xfrm>
          <a:prstGeom prst="roundRect">
            <a:avLst>
              <a:gd name="adj" fmla="val 14286"/>
            </a:avLst>
          </a:prstGeom>
          <a:solidFill>
            <a:srgbClr val="8A97A8"/>
          </a:solidFill>
          <a:ln/>
        </p:spPr>
        <p:txBody>
          <a:bodyPr/>
          <a:lstStyle/>
          <a:p>
            <a:endParaRPr lang="en-VN"/>
          </a:p>
        </p:txBody>
      </p:sp>
      <p:sp>
        <p:nvSpPr>
          <p:cNvPr id="13" name="Text 11"/>
          <p:cNvSpPr/>
          <p:nvPr/>
        </p:nvSpPr>
        <p:spPr>
          <a:xfrm>
            <a:off x="6918871" y="1772841"/>
            <a:ext cx="15186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Be Vietnam Pro" pitchFamily="34" charset="0"/>
                <a:ea typeface="Be Vietnam Pro" pitchFamily="34" charset="-122"/>
                <a:cs typeface="Be Vietnam Pro" pitchFamily="34" charset="-120"/>
              </a:rPr>
              <a:t>Tài liệu, trình bày</a:t>
            </a:r>
            <a:endParaRPr lang="en-US" sz="1200" dirty="0"/>
          </a:p>
        </p:txBody>
      </p:sp>
      <p:sp>
        <p:nvSpPr>
          <p:cNvPr id="14" name="Text 12"/>
          <p:cNvSpPr/>
          <p:nvPr/>
        </p:nvSpPr>
        <p:spPr>
          <a:xfrm>
            <a:off x="812800" y="2251571"/>
            <a:ext cx="19621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84B"/>
                </a:solidFill>
                <a:latin typeface="Be Vietnam Pro" pitchFamily="34" charset="0"/>
                <a:ea typeface="Be Vietnam Pro" pitchFamily="34" charset="-122"/>
                <a:cs typeface="Be Vietnam Pro" pitchFamily="34" charset="-120"/>
              </a:rPr>
              <a:t>Đỗ Văn Tiến</a:t>
            </a:r>
            <a:endParaRPr lang="en-US" sz="1300" dirty="0"/>
          </a:p>
        </p:txBody>
      </p:sp>
      <p:sp>
        <p:nvSpPr>
          <p:cNvPr id="15" name="Text 13"/>
          <p:cNvSpPr/>
          <p:nvPr/>
        </p:nvSpPr>
        <p:spPr>
          <a:xfrm>
            <a:off x="2870200" y="2189361"/>
            <a:ext cx="4476750" cy="355600"/>
          </a:xfrm>
          <a:prstGeom prst="rect">
            <a:avLst/>
          </a:prstGeom>
          <a:solidFill>
            <a:srgbClr val="14284B"/>
          </a:solidFill>
          <a:ln/>
        </p:spPr>
        <p:txBody>
          <a:bodyPr wrap="square" lIns="0" tIns="0" rIns="0" bIns="0" rtlCol="0" anchor="ctr">
            <a:normAutofit/>
          </a:bodyPr>
          <a:lstStyle/>
          <a:p>
            <a:pPr marL="0" indent="0" algn="ctr">
              <a:lnSpc>
                <a:spcPts val="1680"/>
              </a:lnSpc>
              <a:buNone/>
            </a:pPr>
            <a:r>
              <a:rPr lang="en-US" sz="1200" dirty="0">
                <a:solidFill>
                  <a:srgbClr val="F7F5F0"/>
                </a:solidFill>
                <a:latin typeface="Be Vietnam Pro" pitchFamily="34" charset="0"/>
                <a:ea typeface="Be Vietnam Pro" pitchFamily="34" charset="-122"/>
                <a:cs typeface="Be Vietnam Pro" pitchFamily="34" charset="-120"/>
              </a:rPr>
              <a:t>47</a:t>
            </a:r>
            <a:endParaRPr lang="en-US" sz="1200" dirty="0"/>
          </a:p>
        </p:txBody>
      </p:sp>
      <p:sp>
        <p:nvSpPr>
          <p:cNvPr id="16" name="Text 14"/>
          <p:cNvSpPr/>
          <p:nvPr/>
        </p:nvSpPr>
        <p:spPr>
          <a:xfrm>
            <a:off x="7346950" y="2189361"/>
            <a:ext cx="571500" cy="355600"/>
          </a:xfrm>
          <a:prstGeom prst="rect">
            <a:avLst/>
          </a:prstGeom>
          <a:solidFill>
            <a:srgbClr val="D98A3D"/>
          </a:solidFill>
          <a:ln/>
        </p:spPr>
        <p:txBody>
          <a:bodyPr wrap="square" lIns="0" tIns="0" rIns="0" bIns="0" rtlCol="0" anchor="ctr">
            <a:normAutofit/>
          </a:bodyPr>
          <a:lstStyle/>
          <a:p>
            <a:pPr marL="0" indent="0" algn="ctr">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6</a:t>
            </a:r>
            <a:endParaRPr lang="en-US" sz="1200" dirty="0"/>
          </a:p>
        </p:txBody>
      </p:sp>
      <p:sp>
        <p:nvSpPr>
          <p:cNvPr id="17" name="Text 15"/>
          <p:cNvSpPr/>
          <p:nvPr/>
        </p:nvSpPr>
        <p:spPr>
          <a:xfrm>
            <a:off x="7918450" y="2189361"/>
            <a:ext cx="1143000" cy="355600"/>
          </a:xfrm>
          <a:prstGeom prst="rect">
            <a:avLst/>
          </a:prstGeom>
          <a:solidFill>
            <a:srgbClr val="8A97A8"/>
          </a:solidFill>
          <a:ln/>
        </p:spPr>
        <p:txBody>
          <a:bodyPr wrap="square" lIns="0" tIns="0" rIns="0" bIns="0" rtlCol="0" anchor="ctr">
            <a:normAutofit/>
          </a:bodyPr>
          <a:lstStyle/>
          <a:p>
            <a:pPr marL="0" indent="0" algn="ctr">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12</a:t>
            </a:r>
            <a:endParaRPr lang="en-US" sz="1200" dirty="0"/>
          </a:p>
        </p:txBody>
      </p:sp>
      <p:sp>
        <p:nvSpPr>
          <p:cNvPr id="18" name="Text 16"/>
          <p:cNvSpPr/>
          <p:nvPr/>
        </p:nvSpPr>
        <p:spPr>
          <a:xfrm>
            <a:off x="9213850" y="2242691"/>
            <a:ext cx="42463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84B"/>
                </a:solidFill>
                <a:latin typeface="Be Vietnam Pro" pitchFamily="34" charset="0"/>
                <a:ea typeface="Be Vietnam Pro" pitchFamily="34" charset="-122"/>
                <a:cs typeface="Be Vietnam Pro" pitchFamily="34" charset="-120"/>
              </a:rPr>
              <a:t>65h</a:t>
            </a:r>
            <a:endParaRPr lang="en-US" sz="1400" dirty="0"/>
          </a:p>
        </p:txBody>
      </p:sp>
      <p:sp>
        <p:nvSpPr>
          <p:cNvPr id="19" name="Text 17"/>
          <p:cNvSpPr/>
          <p:nvPr/>
        </p:nvSpPr>
        <p:spPr>
          <a:xfrm>
            <a:off x="812800" y="2734171"/>
            <a:ext cx="19621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84B"/>
                </a:solidFill>
                <a:latin typeface="Be Vietnam Pro" pitchFamily="34" charset="0"/>
                <a:ea typeface="Be Vietnam Pro" pitchFamily="34" charset="-122"/>
                <a:cs typeface="Be Vietnam Pro" pitchFamily="34" charset="-120"/>
              </a:rPr>
              <a:t>Mai Thành Khang</a:t>
            </a:r>
            <a:endParaRPr lang="en-US" sz="1300" dirty="0"/>
          </a:p>
        </p:txBody>
      </p:sp>
      <p:sp>
        <p:nvSpPr>
          <p:cNvPr id="20" name="Shape 18"/>
          <p:cNvSpPr/>
          <p:nvPr/>
        </p:nvSpPr>
        <p:spPr>
          <a:xfrm>
            <a:off x="2870200" y="2671961"/>
            <a:ext cx="190500" cy="355600"/>
          </a:xfrm>
          <a:prstGeom prst="rect">
            <a:avLst/>
          </a:prstGeom>
          <a:solidFill>
            <a:srgbClr val="14284B"/>
          </a:solidFill>
          <a:ln/>
        </p:spPr>
        <p:txBody>
          <a:bodyPr/>
          <a:lstStyle/>
          <a:p>
            <a:endParaRPr lang="en-VN"/>
          </a:p>
        </p:txBody>
      </p:sp>
      <p:sp>
        <p:nvSpPr>
          <p:cNvPr id="21" name="Text 19"/>
          <p:cNvSpPr/>
          <p:nvPr/>
        </p:nvSpPr>
        <p:spPr>
          <a:xfrm>
            <a:off x="3060700" y="2671961"/>
            <a:ext cx="1524000" cy="355600"/>
          </a:xfrm>
          <a:prstGeom prst="rect">
            <a:avLst/>
          </a:prstGeom>
          <a:solidFill>
            <a:srgbClr val="2F6DB5"/>
          </a:solidFill>
          <a:ln/>
        </p:spPr>
        <p:txBody>
          <a:bodyPr wrap="square" lIns="0" tIns="0" rIns="0" bIns="0" rtlCol="0" anchor="ctr">
            <a:normAutofit/>
          </a:bodyPr>
          <a:lstStyle/>
          <a:p>
            <a:pPr marL="0" indent="0" algn="ctr">
              <a:lnSpc>
                <a:spcPts val="1680"/>
              </a:lnSpc>
              <a:buNone/>
            </a:pPr>
            <a:r>
              <a:rPr lang="en-US" sz="1200" dirty="0">
                <a:solidFill>
                  <a:srgbClr val="F7F5F0"/>
                </a:solidFill>
                <a:latin typeface="Be Vietnam Pro" pitchFamily="34" charset="0"/>
                <a:ea typeface="Be Vietnam Pro" pitchFamily="34" charset="-122"/>
                <a:cs typeface="Be Vietnam Pro" pitchFamily="34" charset="-120"/>
              </a:rPr>
              <a:t>16</a:t>
            </a:r>
            <a:endParaRPr lang="en-US" sz="1200" dirty="0"/>
          </a:p>
        </p:txBody>
      </p:sp>
      <p:sp>
        <p:nvSpPr>
          <p:cNvPr id="22" name="Text 20"/>
          <p:cNvSpPr/>
          <p:nvPr/>
        </p:nvSpPr>
        <p:spPr>
          <a:xfrm>
            <a:off x="4584700" y="2671961"/>
            <a:ext cx="3810000" cy="355600"/>
          </a:xfrm>
          <a:prstGeom prst="rect">
            <a:avLst/>
          </a:prstGeom>
          <a:solidFill>
            <a:srgbClr val="9DC0E8"/>
          </a:solidFill>
          <a:ln/>
        </p:spPr>
        <p:txBody>
          <a:bodyPr wrap="square" lIns="0" tIns="0" rIns="0" bIns="0" rtlCol="0" anchor="ctr">
            <a:normAutofit/>
          </a:bodyPr>
          <a:lstStyle/>
          <a:p>
            <a:pPr marL="0" indent="0" algn="ctr">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40</a:t>
            </a:r>
            <a:endParaRPr lang="en-US" sz="1200" dirty="0"/>
          </a:p>
        </p:txBody>
      </p:sp>
      <p:sp>
        <p:nvSpPr>
          <p:cNvPr id="23" name="Text 21"/>
          <p:cNvSpPr/>
          <p:nvPr/>
        </p:nvSpPr>
        <p:spPr>
          <a:xfrm>
            <a:off x="8394700" y="2671961"/>
            <a:ext cx="666750" cy="355600"/>
          </a:xfrm>
          <a:prstGeom prst="rect">
            <a:avLst/>
          </a:prstGeom>
          <a:solidFill>
            <a:srgbClr val="8A97A8"/>
          </a:solidFill>
          <a:ln/>
        </p:spPr>
        <p:txBody>
          <a:bodyPr wrap="square" lIns="0" tIns="0" rIns="0" bIns="0" rtlCol="0" anchor="ctr">
            <a:normAutofit/>
          </a:bodyPr>
          <a:lstStyle/>
          <a:p>
            <a:pPr marL="0" indent="0" algn="ctr">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7</a:t>
            </a:r>
            <a:endParaRPr lang="en-US" sz="1200" dirty="0"/>
          </a:p>
        </p:txBody>
      </p:sp>
      <p:sp>
        <p:nvSpPr>
          <p:cNvPr id="24" name="Text 22"/>
          <p:cNvSpPr/>
          <p:nvPr/>
        </p:nvSpPr>
        <p:spPr>
          <a:xfrm>
            <a:off x="9213850" y="2725291"/>
            <a:ext cx="42463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84B"/>
                </a:solidFill>
                <a:latin typeface="Be Vietnam Pro" pitchFamily="34" charset="0"/>
                <a:ea typeface="Be Vietnam Pro" pitchFamily="34" charset="-122"/>
                <a:cs typeface="Be Vietnam Pro" pitchFamily="34" charset="-120"/>
              </a:rPr>
              <a:t>65h</a:t>
            </a:r>
            <a:endParaRPr lang="en-US" sz="1400" dirty="0"/>
          </a:p>
        </p:txBody>
      </p:sp>
      <p:sp>
        <p:nvSpPr>
          <p:cNvPr id="25" name="Text 23"/>
          <p:cNvSpPr/>
          <p:nvPr/>
        </p:nvSpPr>
        <p:spPr>
          <a:xfrm>
            <a:off x="812800" y="3216771"/>
            <a:ext cx="19621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84B"/>
                </a:solidFill>
                <a:latin typeface="Be Vietnam Pro" pitchFamily="34" charset="0"/>
                <a:ea typeface="Be Vietnam Pro" pitchFamily="34" charset="-122"/>
                <a:cs typeface="Be Vietnam Pro" pitchFamily="34" charset="-120"/>
              </a:rPr>
              <a:t>Đoàn Quang Anh</a:t>
            </a:r>
            <a:endParaRPr lang="en-US" sz="1300" dirty="0"/>
          </a:p>
        </p:txBody>
      </p:sp>
      <p:sp>
        <p:nvSpPr>
          <p:cNvPr id="26" name="Text 24"/>
          <p:cNvSpPr/>
          <p:nvPr/>
        </p:nvSpPr>
        <p:spPr>
          <a:xfrm>
            <a:off x="2870200" y="3154561"/>
            <a:ext cx="762000" cy="355600"/>
          </a:xfrm>
          <a:prstGeom prst="rect">
            <a:avLst/>
          </a:prstGeom>
          <a:solidFill>
            <a:srgbClr val="14284B"/>
          </a:solidFill>
          <a:ln/>
        </p:spPr>
        <p:txBody>
          <a:bodyPr wrap="square" lIns="0" tIns="0" rIns="0" bIns="0" rtlCol="0" anchor="ctr">
            <a:normAutofit/>
          </a:bodyPr>
          <a:lstStyle/>
          <a:p>
            <a:pPr marL="0" indent="0" algn="ctr">
              <a:lnSpc>
                <a:spcPts val="1680"/>
              </a:lnSpc>
              <a:buNone/>
            </a:pPr>
            <a:r>
              <a:rPr lang="en-US" sz="1200" dirty="0">
                <a:solidFill>
                  <a:srgbClr val="F7F5F0"/>
                </a:solidFill>
                <a:latin typeface="Be Vietnam Pro" pitchFamily="34" charset="0"/>
                <a:ea typeface="Be Vietnam Pro" pitchFamily="34" charset="-122"/>
                <a:cs typeface="Be Vietnam Pro" pitchFamily="34" charset="-120"/>
              </a:rPr>
              <a:t>8</a:t>
            </a:r>
            <a:endParaRPr lang="en-US" sz="1200" dirty="0"/>
          </a:p>
        </p:txBody>
      </p:sp>
      <p:sp>
        <p:nvSpPr>
          <p:cNvPr id="27" name="Text 25"/>
          <p:cNvSpPr/>
          <p:nvPr/>
        </p:nvSpPr>
        <p:spPr>
          <a:xfrm>
            <a:off x="3632200" y="3154561"/>
            <a:ext cx="1333500" cy="355600"/>
          </a:xfrm>
          <a:prstGeom prst="rect">
            <a:avLst/>
          </a:prstGeom>
          <a:solidFill>
            <a:srgbClr val="2F6DB5"/>
          </a:solidFill>
          <a:ln/>
        </p:spPr>
        <p:txBody>
          <a:bodyPr wrap="square" lIns="0" tIns="0" rIns="0" bIns="0" rtlCol="0" anchor="ctr">
            <a:normAutofit/>
          </a:bodyPr>
          <a:lstStyle/>
          <a:p>
            <a:pPr marL="0" indent="0" algn="ctr">
              <a:lnSpc>
                <a:spcPts val="1680"/>
              </a:lnSpc>
              <a:buNone/>
            </a:pPr>
            <a:r>
              <a:rPr lang="en-US" sz="1200" dirty="0">
                <a:solidFill>
                  <a:srgbClr val="F7F5F0"/>
                </a:solidFill>
                <a:latin typeface="Be Vietnam Pro" pitchFamily="34" charset="0"/>
                <a:ea typeface="Be Vietnam Pro" pitchFamily="34" charset="-122"/>
                <a:cs typeface="Be Vietnam Pro" pitchFamily="34" charset="-120"/>
              </a:rPr>
              <a:t>14</a:t>
            </a:r>
            <a:endParaRPr lang="en-US" sz="1200" dirty="0"/>
          </a:p>
        </p:txBody>
      </p:sp>
      <p:sp>
        <p:nvSpPr>
          <p:cNvPr id="28" name="Text 26"/>
          <p:cNvSpPr/>
          <p:nvPr/>
        </p:nvSpPr>
        <p:spPr>
          <a:xfrm>
            <a:off x="4965700" y="3154561"/>
            <a:ext cx="3429000" cy="355600"/>
          </a:xfrm>
          <a:prstGeom prst="rect">
            <a:avLst/>
          </a:prstGeom>
          <a:solidFill>
            <a:srgbClr val="9DC0E8"/>
          </a:solidFill>
          <a:ln/>
        </p:spPr>
        <p:txBody>
          <a:bodyPr wrap="square" lIns="0" tIns="0" rIns="0" bIns="0" rtlCol="0" anchor="ctr">
            <a:normAutofit/>
          </a:bodyPr>
          <a:lstStyle/>
          <a:p>
            <a:pPr marL="0" indent="0" algn="ctr">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36</a:t>
            </a:r>
            <a:endParaRPr lang="en-US" sz="1200" dirty="0"/>
          </a:p>
        </p:txBody>
      </p:sp>
      <p:sp>
        <p:nvSpPr>
          <p:cNvPr id="29" name="Text 27"/>
          <p:cNvSpPr/>
          <p:nvPr/>
        </p:nvSpPr>
        <p:spPr>
          <a:xfrm>
            <a:off x="8394700" y="3154561"/>
            <a:ext cx="666750" cy="355600"/>
          </a:xfrm>
          <a:prstGeom prst="rect">
            <a:avLst/>
          </a:prstGeom>
          <a:solidFill>
            <a:srgbClr val="8A97A8"/>
          </a:solidFill>
          <a:ln/>
        </p:spPr>
        <p:txBody>
          <a:bodyPr wrap="square" lIns="0" tIns="0" rIns="0" bIns="0" rtlCol="0" anchor="ctr">
            <a:normAutofit/>
          </a:bodyPr>
          <a:lstStyle/>
          <a:p>
            <a:pPr marL="0" indent="0" algn="ctr">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7</a:t>
            </a:r>
            <a:endParaRPr lang="en-US" sz="1200" dirty="0"/>
          </a:p>
        </p:txBody>
      </p:sp>
      <p:sp>
        <p:nvSpPr>
          <p:cNvPr id="30" name="Text 28"/>
          <p:cNvSpPr/>
          <p:nvPr/>
        </p:nvSpPr>
        <p:spPr>
          <a:xfrm>
            <a:off x="9213850" y="3207891"/>
            <a:ext cx="42463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84B"/>
                </a:solidFill>
                <a:latin typeface="Be Vietnam Pro" pitchFamily="34" charset="0"/>
                <a:ea typeface="Be Vietnam Pro" pitchFamily="34" charset="-122"/>
                <a:cs typeface="Be Vietnam Pro" pitchFamily="34" charset="-120"/>
              </a:rPr>
              <a:t>65h</a:t>
            </a:r>
            <a:endParaRPr lang="en-US" sz="1400" dirty="0"/>
          </a:p>
        </p:txBody>
      </p:sp>
      <p:sp>
        <p:nvSpPr>
          <p:cNvPr id="31" name="Text 29"/>
          <p:cNvSpPr/>
          <p:nvPr/>
        </p:nvSpPr>
        <p:spPr>
          <a:xfrm>
            <a:off x="812800" y="3699371"/>
            <a:ext cx="19621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84B"/>
                </a:solidFill>
                <a:latin typeface="Be Vietnam Pro" pitchFamily="34" charset="0"/>
                <a:ea typeface="Be Vietnam Pro" pitchFamily="34" charset="-122"/>
                <a:cs typeface="Be Vietnam Pro" pitchFamily="34" charset="-120"/>
              </a:rPr>
              <a:t>Đỗ Văn Phương</a:t>
            </a:r>
            <a:endParaRPr lang="en-US" sz="1300" dirty="0"/>
          </a:p>
        </p:txBody>
      </p:sp>
      <p:sp>
        <p:nvSpPr>
          <p:cNvPr id="32" name="Shape 30"/>
          <p:cNvSpPr/>
          <p:nvPr/>
        </p:nvSpPr>
        <p:spPr>
          <a:xfrm>
            <a:off x="2870200" y="3637161"/>
            <a:ext cx="190500" cy="355600"/>
          </a:xfrm>
          <a:prstGeom prst="rect">
            <a:avLst/>
          </a:prstGeom>
          <a:solidFill>
            <a:srgbClr val="14284B"/>
          </a:solidFill>
          <a:ln/>
        </p:spPr>
        <p:txBody>
          <a:bodyPr/>
          <a:lstStyle/>
          <a:p>
            <a:endParaRPr lang="en-VN"/>
          </a:p>
        </p:txBody>
      </p:sp>
      <p:sp>
        <p:nvSpPr>
          <p:cNvPr id="33" name="Text 31"/>
          <p:cNvSpPr/>
          <p:nvPr/>
        </p:nvSpPr>
        <p:spPr>
          <a:xfrm>
            <a:off x="3060700" y="3637161"/>
            <a:ext cx="1143000" cy="355600"/>
          </a:xfrm>
          <a:prstGeom prst="rect">
            <a:avLst/>
          </a:prstGeom>
          <a:solidFill>
            <a:srgbClr val="2F6DB5"/>
          </a:solidFill>
          <a:ln/>
        </p:spPr>
        <p:txBody>
          <a:bodyPr wrap="square" lIns="0" tIns="0" rIns="0" bIns="0" rtlCol="0" anchor="ctr">
            <a:normAutofit/>
          </a:bodyPr>
          <a:lstStyle/>
          <a:p>
            <a:pPr marL="0" indent="0" algn="ctr">
              <a:lnSpc>
                <a:spcPts val="1680"/>
              </a:lnSpc>
              <a:buNone/>
            </a:pPr>
            <a:r>
              <a:rPr lang="en-US" sz="1200" dirty="0">
                <a:solidFill>
                  <a:srgbClr val="F7F5F0"/>
                </a:solidFill>
                <a:latin typeface="Be Vietnam Pro" pitchFamily="34" charset="0"/>
                <a:ea typeface="Be Vietnam Pro" pitchFamily="34" charset="-122"/>
                <a:cs typeface="Be Vietnam Pro" pitchFamily="34" charset="-120"/>
              </a:rPr>
              <a:t>12</a:t>
            </a:r>
            <a:endParaRPr lang="en-US" sz="1200" dirty="0"/>
          </a:p>
        </p:txBody>
      </p:sp>
      <p:sp>
        <p:nvSpPr>
          <p:cNvPr id="34" name="Text 32"/>
          <p:cNvSpPr/>
          <p:nvPr/>
        </p:nvSpPr>
        <p:spPr>
          <a:xfrm>
            <a:off x="4203700" y="3637161"/>
            <a:ext cx="3810000" cy="355600"/>
          </a:xfrm>
          <a:prstGeom prst="rect">
            <a:avLst/>
          </a:prstGeom>
          <a:solidFill>
            <a:srgbClr val="9DC0E8"/>
          </a:solidFill>
          <a:ln/>
        </p:spPr>
        <p:txBody>
          <a:bodyPr wrap="square" lIns="0" tIns="0" rIns="0" bIns="0" rtlCol="0" anchor="ctr">
            <a:normAutofit/>
          </a:bodyPr>
          <a:lstStyle/>
          <a:p>
            <a:pPr marL="0" indent="0" algn="ctr">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40</a:t>
            </a:r>
            <a:endParaRPr lang="en-US" sz="1200" dirty="0"/>
          </a:p>
        </p:txBody>
      </p:sp>
      <p:sp>
        <p:nvSpPr>
          <p:cNvPr id="35" name="Text 33"/>
          <p:cNvSpPr/>
          <p:nvPr/>
        </p:nvSpPr>
        <p:spPr>
          <a:xfrm>
            <a:off x="8013700" y="3637161"/>
            <a:ext cx="1047750" cy="355600"/>
          </a:xfrm>
          <a:prstGeom prst="rect">
            <a:avLst/>
          </a:prstGeom>
          <a:solidFill>
            <a:srgbClr val="8A97A8"/>
          </a:solidFill>
          <a:ln/>
        </p:spPr>
        <p:txBody>
          <a:bodyPr wrap="square" lIns="0" tIns="0" rIns="0" bIns="0" rtlCol="0" anchor="ctr">
            <a:normAutofit/>
          </a:bodyPr>
          <a:lstStyle/>
          <a:p>
            <a:pPr marL="0" indent="0" algn="ctr">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11</a:t>
            </a:r>
            <a:endParaRPr lang="en-US" sz="1200" dirty="0"/>
          </a:p>
        </p:txBody>
      </p:sp>
      <p:sp>
        <p:nvSpPr>
          <p:cNvPr id="36" name="Text 34"/>
          <p:cNvSpPr/>
          <p:nvPr/>
        </p:nvSpPr>
        <p:spPr>
          <a:xfrm>
            <a:off x="9213850" y="3690491"/>
            <a:ext cx="42463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84B"/>
                </a:solidFill>
                <a:latin typeface="Be Vietnam Pro" pitchFamily="34" charset="0"/>
                <a:ea typeface="Be Vietnam Pro" pitchFamily="34" charset="-122"/>
                <a:cs typeface="Be Vietnam Pro" pitchFamily="34" charset="-120"/>
              </a:rPr>
              <a:t>65h</a:t>
            </a:r>
            <a:endParaRPr lang="en-US" sz="1400" dirty="0"/>
          </a:p>
        </p:txBody>
      </p:sp>
      <p:sp>
        <p:nvSpPr>
          <p:cNvPr id="37" name="Text 35"/>
          <p:cNvSpPr/>
          <p:nvPr/>
        </p:nvSpPr>
        <p:spPr>
          <a:xfrm>
            <a:off x="812800" y="4181971"/>
            <a:ext cx="19621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84B"/>
                </a:solidFill>
                <a:latin typeface="Be Vietnam Pro" pitchFamily="34" charset="0"/>
                <a:ea typeface="Be Vietnam Pro" pitchFamily="34" charset="-122"/>
                <a:cs typeface="Be Vietnam Pro" pitchFamily="34" charset="-120"/>
              </a:rPr>
              <a:t>Mai Xuân Đạt</a:t>
            </a:r>
            <a:endParaRPr lang="en-US" sz="1300" dirty="0"/>
          </a:p>
        </p:txBody>
      </p:sp>
      <p:sp>
        <p:nvSpPr>
          <p:cNvPr id="38" name="Shape 36"/>
          <p:cNvSpPr/>
          <p:nvPr/>
        </p:nvSpPr>
        <p:spPr>
          <a:xfrm>
            <a:off x="2870200" y="4119761"/>
            <a:ext cx="190500" cy="355600"/>
          </a:xfrm>
          <a:prstGeom prst="rect">
            <a:avLst/>
          </a:prstGeom>
          <a:solidFill>
            <a:srgbClr val="14284B"/>
          </a:solidFill>
          <a:ln/>
        </p:spPr>
        <p:txBody>
          <a:bodyPr/>
          <a:lstStyle/>
          <a:p>
            <a:endParaRPr lang="en-VN"/>
          </a:p>
        </p:txBody>
      </p:sp>
      <p:sp>
        <p:nvSpPr>
          <p:cNvPr id="39" name="Text 37"/>
          <p:cNvSpPr/>
          <p:nvPr/>
        </p:nvSpPr>
        <p:spPr>
          <a:xfrm>
            <a:off x="3060700" y="4119761"/>
            <a:ext cx="571500" cy="355600"/>
          </a:xfrm>
          <a:prstGeom prst="rect">
            <a:avLst/>
          </a:prstGeom>
          <a:solidFill>
            <a:srgbClr val="9DC0E8"/>
          </a:solidFill>
          <a:ln/>
        </p:spPr>
        <p:txBody>
          <a:bodyPr wrap="square" lIns="0" tIns="0" rIns="0" bIns="0" rtlCol="0" anchor="ctr">
            <a:normAutofit/>
          </a:bodyPr>
          <a:lstStyle/>
          <a:p>
            <a:pPr marL="0" indent="0" algn="ctr">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6</a:t>
            </a:r>
            <a:endParaRPr lang="en-US" sz="1200" dirty="0"/>
          </a:p>
        </p:txBody>
      </p:sp>
      <p:sp>
        <p:nvSpPr>
          <p:cNvPr id="40" name="Text 38"/>
          <p:cNvSpPr/>
          <p:nvPr/>
        </p:nvSpPr>
        <p:spPr>
          <a:xfrm>
            <a:off x="3632200" y="4119761"/>
            <a:ext cx="4762500" cy="355600"/>
          </a:xfrm>
          <a:prstGeom prst="rect">
            <a:avLst/>
          </a:prstGeom>
          <a:solidFill>
            <a:srgbClr val="D98A3D"/>
          </a:solidFill>
          <a:ln/>
        </p:spPr>
        <p:txBody>
          <a:bodyPr wrap="square" lIns="0" tIns="0" rIns="0" bIns="0" rtlCol="0" anchor="ctr">
            <a:normAutofit/>
          </a:bodyPr>
          <a:lstStyle/>
          <a:p>
            <a:pPr marL="0" indent="0" algn="ctr">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50</a:t>
            </a:r>
            <a:endParaRPr lang="en-US" sz="1200" dirty="0"/>
          </a:p>
        </p:txBody>
      </p:sp>
      <p:sp>
        <p:nvSpPr>
          <p:cNvPr id="41" name="Text 39"/>
          <p:cNvSpPr/>
          <p:nvPr/>
        </p:nvSpPr>
        <p:spPr>
          <a:xfrm>
            <a:off x="8394700" y="4119761"/>
            <a:ext cx="666750" cy="355600"/>
          </a:xfrm>
          <a:prstGeom prst="rect">
            <a:avLst/>
          </a:prstGeom>
          <a:solidFill>
            <a:srgbClr val="8A97A8"/>
          </a:solidFill>
          <a:ln/>
        </p:spPr>
        <p:txBody>
          <a:bodyPr wrap="square" lIns="0" tIns="0" rIns="0" bIns="0" rtlCol="0" anchor="ctr">
            <a:normAutofit/>
          </a:bodyPr>
          <a:lstStyle/>
          <a:p>
            <a:pPr marL="0" indent="0" algn="ctr">
              <a:lnSpc>
                <a:spcPts val="1680"/>
              </a:lnSpc>
              <a:buNone/>
            </a:pPr>
            <a:r>
              <a:rPr lang="en-US" sz="1200" dirty="0">
                <a:solidFill>
                  <a:srgbClr val="14284B"/>
                </a:solidFill>
                <a:latin typeface="Be Vietnam Pro" pitchFamily="34" charset="0"/>
                <a:ea typeface="Be Vietnam Pro" pitchFamily="34" charset="-122"/>
                <a:cs typeface="Be Vietnam Pro" pitchFamily="34" charset="-120"/>
              </a:rPr>
              <a:t>7</a:t>
            </a:r>
            <a:endParaRPr lang="en-US" sz="1200" dirty="0"/>
          </a:p>
        </p:txBody>
      </p:sp>
      <p:sp>
        <p:nvSpPr>
          <p:cNvPr id="42" name="Text 40"/>
          <p:cNvSpPr/>
          <p:nvPr/>
        </p:nvSpPr>
        <p:spPr>
          <a:xfrm>
            <a:off x="9213850" y="4173091"/>
            <a:ext cx="42463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84B"/>
                </a:solidFill>
                <a:latin typeface="Be Vietnam Pro" pitchFamily="34" charset="0"/>
                <a:ea typeface="Be Vietnam Pro" pitchFamily="34" charset="-122"/>
                <a:cs typeface="Be Vietnam Pro" pitchFamily="34" charset="-120"/>
              </a:rPr>
              <a:t>65h</a:t>
            </a:r>
            <a:endParaRPr lang="en-US" sz="1400" dirty="0"/>
          </a:p>
        </p:txBody>
      </p:sp>
      <p:sp>
        <p:nvSpPr>
          <p:cNvPr id="43" name="Text 41"/>
          <p:cNvSpPr/>
          <p:nvPr/>
        </p:nvSpPr>
        <p:spPr>
          <a:xfrm>
            <a:off x="812800" y="4678561"/>
            <a:ext cx="11379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Việc chung chia đều cho 5 người: khảo sát bài toán 2 giờ, báo cáo cuối kỳ 5 giờ, chuẩn bị bảo vệ 2 giờ mỗi người. Ô hẹp không ghi số là 2 giờ.</a:t>
            </a:r>
            <a:endParaRPr lang="en-US" sz="1200" dirty="0"/>
          </a:p>
        </p:txBody>
      </p:sp>
      <p:sp>
        <p:nvSpPr>
          <p:cNvPr id="44" name="Text 4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e-HoSo · Project Plan · Nhóm INS6021</a:t>
            </a:r>
            <a:endParaRPr lang="en-US" sz="1200" dirty="0"/>
          </a:p>
        </p:txBody>
      </p:sp>
      <p:sp>
        <p:nvSpPr>
          <p:cNvPr id="45" name="Text 43"/>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F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23A2E"/>
                </a:solidFill>
                <a:latin typeface="Be Vietnam Pro" pitchFamily="34" charset="0"/>
                <a:ea typeface="Be Vietnam Pro" pitchFamily="34" charset="-122"/>
                <a:cs typeface="Be Vietnam Pro" pitchFamily="34" charset="-120"/>
              </a:rPr>
              <a:t>PHÂN TÍCH RỦI RO BAN ĐẦU</a:t>
            </a:r>
            <a:endParaRPr lang="en-US" sz="1200" dirty="0"/>
          </a:p>
        </p:txBody>
      </p:sp>
      <p:sp>
        <p:nvSpPr>
          <p:cNvPr id="3" name="Text 1"/>
          <p:cNvSpPr>
            <a:spLocks noGrp="1"/>
          </p:cNvSpPr>
          <p:nvPr>
            <p:ph type="title"/>
          </p:nvPr>
        </p:nvSpPr>
        <p:spPr>
          <a:xfrm>
            <a:off x="812800" y="1102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84B"/>
                </a:solidFill>
                <a:latin typeface="Be Vietnam Pro" pitchFamily="34" charset="0"/>
                <a:ea typeface="Be Vietnam Pro" pitchFamily="34" charset="-122"/>
                <a:cs typeface="Be Vietnam Pro" pitchFamily="34" charset="-120"/>
              </a:rPr>
              <a:t>4 rủi ro ưu tiên và cách ứng phó</a:t>
            </a:r>
            <a:endParaRPr lang="en-US" sz="3200" dirty="0"/>
          </a:p>
        </p:txBody>
      </p:sp>
      <p:sp>
        <p:nvSpPr>
          <p:cNvPr id="4" name="Shape 2"/>
          <p:cNvSpPr/>
          <p:nvPr/>
        </p:nvSpPr>
        <p:spPr>
          <a:xfrm>
            <a:off x="815975" y="1776016"/>
            <a:ext cx="5200650" cy="1418530"/>
          </a:xfrm>
          <a:prstGeom prst="roundRect">
            <a:avLst>
              <a:gd name="adj" fmla="val 5148"/>
            </a:avLst>
          </a:prstGeom>
          <a:solidFill>
            <a:srgbClr val="FDFCFA"/>
          </a:solidFill>
          <a:ln w="6350">
            <a:solidFill>
              <a:srgbClr val="D9DDE3"/>
            </a:solidFill>
            <a:prstDash val="solid"/>
          </a:ln>
        </p:spPr>
        <p:txBody>
          <a:bodyPr/>
          <a:lstStyle/>
          <a:p>
            <a:endParaRPr lang="en-VN"/>
          </a:p>
        </p:txBody>
      </p:sp>
      <p:sp>
        <p:nvSpPr>
          <p:cNvPr id="5" name="Text 3"/>
          <p:cNvSpPr/>
          <p:nvPr/>
        </p:nvSpPr>
        <p:spPr>
          <a:xfrm>
            <a:off x="1022350" y="1956991"/>
            <a:ext cx="493153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23A2E"/>
                </a:solidFill>
                <a:latin typeface="Be Vietnam Pro" pitchFamily="34" charset="0"/>
                <a:ea typeface="Be Vietnam Pro" pitchFamily="34" charset="-122"/>
                <a:cs typeface="Be Vietnam Pro" pitchFamily="34" charset="-120"/>
              </a:rPr>
              <a:t>R1 · Khả năng 3 × Tác động 3 = 9 · Rất cao</a:t>
            </a:r>
            <a:endParaRPr lang="en-US" sz="1200" dirty="0"/>
          </a:p>
        </p:txBody>
      </p:sp>
      <p:sp>
        <p:nvSpPr>
          <p:cNvPr id="6" name="Text 4"/>
          <p:cNvSpPr/>
          <p:nvPr/>
        </p:nvSpPr>
        <p:spPr>
          <a:xfrm>
            <a:off x="1022350" y="2246511"/>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84B"/>
                </a:solidFill>
                <a:latin typeface="Be Vietnam Pro" pitchFamily="34" charset="0"/>
                <a:ea typeface="Be Vietnam Pro" pitchFamily="34" charset="-122"/>
                <a:cs typeface="Be Vietnam Pro" pitchFamily="34" charset="-120"/>
              </a:rPr>
              <a:t>Lịch 6 tuần căng, trễ mốc</a:t>
            </a:r>
            <a:endParaRPr lang="en-US" sz="1500" dirty="0"/>
          </a:p>
        </p:txBody>
      </p:sp>
      <p:sp>
        <p:nvSpPr>
          <p:cNvPr id="7" name="Text 5"/>
          <p:cNvSpPr/>
          <p:nvPr/>
        </p:nvSpPr>
        <p:spPr>
          <a:xfrm>
            <a:off x="1022350" y="2551311"/>
            <a:ext cx="493153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5C"/>
                </a:solidFill>
                <a:latin typeface="Be Vietnam Pro" pitchFamily="34" charset="0"/>
                <a:ea typeface="Be Vietnam Pro" pitchFamily="34" charset="-122"/>
                <a:cs typeface="Be Vietnam Pro" pitchFamily="34" charset="-120"/>
              </a:rPr>
              <a:t>Giảm thiểu: task tối đa 8 giờ, theo dõi tiến độ hằng tuần; trễ thì cắt yêu cầu mức C trước (Tiến)</a:t>
            </a:r>
            <a:endParaRPr lang="en-US" sz="1300" dirty="0"/>
          </a:p>
        </p:txBody>
      </p:sp>
      <p:sp>
        <p:nvSpPr>
          <p:cNvPr id="8" name="Shape 6"/>
          <p:cNvSpPr/>
          <p:nvPr/>
        </p:nvSpPr>
        <p:spPr>
          <a:xfrm>
            <a:off x="6175375" y="1776016"/>
            <a:ext cx="5200650" cy="1418530"/>
          </a:xfrm>
          <a:prstGeom prst="roundRect">
            <a:avLst>
              <a:gd name="adj" fmla="val 5148"/>
            </a:avLst>
          </a:prstGeom>
          <a:solidFill>
            <a:srgbClr val="FDFCFA"/>
          </a:solidFill>
          <a:ln w="6350">
            <a:solidFill>
              <a:srgbClr val="D9DDE3"/>
            </a:solidFill>
            <a:prstDash val="solid"/>
          </a:ln>
        </p:spPr>
        <p:txBody>
          <a:bodyPr/>
          <a:lstStyle/>
          <a:p>
            <a:endParaRPr lang="en-VN"/>
          </a:p>
        </p:txBody>
      </p:sp>
      <p:sp>
        <p:nvSpPr>
          <p:cNvPr id="9" name="Text 7"/>
          <p:cNvSpPr/>
          <p:nvPr/>
        </p:nvSpPr>
        <p:spPr>
          <a:xfrm>
            <a:off x="6381750" y="1956991"/>
            <a:ext cx="493153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45F1C"/>
                </a:solidFill>
                <a:latin typeface="Be Vietnam Pro" pitchFamily="34" charset="0"/>
                <a:ea typeface="Be Vietnam Pro" pitchFamily="34" charset="-122"/>
                <a:cs typeface="Be Vietnam Pro" pitchFamily="34" charset="-120"/>
              </a:rPr>
              <a:t>R2 · Khả năng 2 × Tác động 3 = 6 · Cao</a:t>
            </a:r>
            <a:endParaRPr lang="en-US" sz="1200" dirty="0"/>
          </a:p>
        </p:txBody>
      </p:sp>
      <p:sp>
        <p:nvSpPr>
          <p:cNvPr id="10" name="Text 8"/>
          <p:cNvSpPr/>
          <p:nvPr/>
        </p:nvSpPr>
        <p:spPr>
          <a:xfrm>
            <a:off x="6381750" y="2246511"/>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84B"/>
                </a:solidFill>
                <a:latin typeface="Be Vietnam Pro" pitchFamily="34" charset="0"/>
                <a:ea typeface="Be Vietnam Pro" pitchFamily="34" charset="-122"/>
                <a:cs typeface="Be Vietnam Pro" pitchFamily="34" charset="-120"/>
              </a:rPr>
              <a:t>Phạm vi phình to</a:t>
            </a:r>
            <a:endParaRPr lang="en-US" sz="1500" dirty="0"/>
          </a:p>
        </p:txBody>
      </p:sp>
      <p:sp>
        <p:nvSpPr>
          <p:cNvPr id="11" name="Text 9"/>
          <p:cNvSpPr/>
          <p:nvPr/>
        </p:nvSpPr>
        <p:spPr>
          <a:xfrm>
            <a:off x="6381750" y="2551311"/>
            <a:ext cx="493153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5C"/>
                </a:solidFill>
                <a:latin typeface="Be Vietnam Pro" pitchFamily="34" charset="0"/>
                <a:ea typeface="Be Vietnam Pro" pitchFamily="34" charset="-122"/>
                <a:cs typeface="Be Vietnam Pro" pitchFamily="34" charset="-120"/>
              </a:rPr>
              <a:t>Tránh: cố định 3 thủ tục mẫu; mọi thay đổi qua yêu cầu thay đổi do PM duyệt (Tiến)</a:t>
            </a:r>
            <a:endParaRPr lang="en-US" sz="1300" dirty="0"/>
          </a:p>
        </p:txBody>
      </p:sp>
      <p:sp>
        <p:nvSpPr>
          <p:cNvPr id="12" name="Shape 10"/>
          <p:cNvSpPr/>
          <p:nvPr/>
        </p:nvSpPr>
        <p:spPr>
          <a:xfrm>
            <a:off x="815975" y="3353296"/>
            <a:ext cx="5200650" cy="1418530"/>
          </a:xfrm>
          <a:prstGeom prst="roundRect">
            <a:avLst>
              <a:gd name="adj" fmla="val 5148"/>
            </a:avLst>
          </a:prstGeom>
          <a:solidFill>
            <a:srgbClr val="FDFCFA"/>
          </a:solidFill>
          <a:ln w="6350">
            <a:solidFill>
              <a:srgbClr val="D9DDE3"/>
            </a:solidFill>
            <a:prstDash val="solid"/>
          </a:ln>
        </p:spPr>
        <p:txBody>
          <a:bodyPr/>
          <a:lstStyle/>
          <a:p>
            <a:endParaRPr lang="en-VN"/>
          </a:p>
        </p:txBody>
      </p:sp>
      <p:sp>
        <p:nvSpPr>
          <p:cNvPr id="13" name="Text 11"/>
          <p:cNvSpPr/>
          <p:nvPr/>
        </p:nvSpPr>
        <p:spPr>
          <a:xfrm>
            <a:off x="1022350" y="3534271"/>
            <a:ext cx="493153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45F1C"/>
                </a:solidFill>
                <a:latin typeface="Be Vietnam Pro" pitchFamily="34" charset="0"/>
                <a:ea typeface="Be Vietnam Pro" pitchFamily="34" charset="-122"/>
                <a:cs typeface="Be Vietnam Pro" pitchFamily="34" charset="-120"/>
              </a:rPr>
              <a:t>R3 · Khả năng 2 × Tác động 3 = 6 · Cao</a:t>
            </a:r>
            <a:endParaRPr lang="en-US" sz="1200" dirty="0"/>
          </a:p>
        </p:txBody>
      </p:sp>
      <p:sp>
        <p:nvSpPr>
          <p:cNvPr id="14" name="Text 12"/>
          <p:cNvSpPr/>
          <p:nvPr/>
        </p:nvSpPr>
        <p:spPr>
          <a:xfrm>
            <a:off x="1022350" y="3823791"/>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84B"/>
                </a:solidFill>
                <a:latin typeface="Be Vietnam Pro" pitchFamily="34" charset="0"/>
                <a:ea typeface="Be Vietnam Pro" pitchFamily="34" charset="-122"/>
                <a:cs typeface="Be Vietnam Pro" pitchFamily="34" charset="-120"/>
              </a:rPr>
              <a:t>Hiểu sai nghiệp vụ một cửa</a:t>
            </a:r>
            <a:endParaRPr lang="en-US" sz="1500" dirty="0"/>
          </a:p>
        </p:txBody>
      </p:sp>
      <p:sp>
        <p:nvSpPr>
          <p:cNvPr id="15" name="Text 13"/>
          <p:cNvSpPr/>
          <p:nvPr/>
        </p:nvSpPr>
        <p:spPr>
          <a:xfrm>
            <a:off x="1022350" y="4128591"/>
            <a:ext cx="493153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5C"/>
                </a:solidFill>
                <a:latin typeface="Be Vietnam Pro" pitchFamily="34" charset="0"/>
                <a:ea typeface="Be Vietnam Pro" pitchFamily="34" charset="-122"/>
                <a:cs typeface="Be Vietnam Pro" pitchFamily="34" charset="-120"/>
              </a:rPr>
              <a:t>Giảm thiểu: đối chiếu quy trình công khai, walkthrough SRS, xác nhận sớm bằng prototype (Tiến)</a:t>
            </a:r>
            <a:endParaRPr lang="en-US" sz="1300" dirty="0"/>
          </a:p>
        </p:txBody>
      </p:sp>
      <p:sp>
        <p:nvSpPr>
          <p:cNvPr id="16" name="Shape 14"/>
          <p:cNvSpPr/>
          <p:nvPr/>
        </p:nvSpPr>
        <p:spPr>
          <a:xfrm>
            <a:off x="6175375" y="3353296"/>
            <a:ext cx="5200650" cy="1418530"/>
          </a:xfrm>
          <a:prstGeom prst="roundRect">
            <a:avLst>
              <a:gd name="adj" fmla="val 5148"/>
            </a:avLst>
          </a:prstGeom>
          <a:solidFill>
            <a:srgbClr val="FDFCFA"/>
          </a:solidFill>
          <a:ln w="6350">
            <a:solidFill>
              <a:srgbClr val="D9DDE3"/>
            </a:solidFill>
            <a:prstDash val="solid"/>
          </a:ln>
        </p:spPr>
        <p:txBody>
          <a:bodyPr/>
          <a:lstStyle/>
          <a:p>
            <a:endParaRPr lang="en-VN"/>
          </a:p>
        </p:txBody>
      </p:sp>
      <p:sp>
        <p:nvSpPr>
          <p:cNvPr id="17" name="Text 15"/>
          <p:cNvSpPr/>
          <p:nvPr/>
        </p:nvSpPr>
        <p:spPr>
          <a:xfrm>
            <a:off x="6381750" y="3534271"/>
            <a:ext cx="493153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45F1C"/>
                </a:solidFill>
                <a:latin typeface="Be Vietnam Pro" pitchFamily="34" charset="0"/>
                <a:ea typeface="Be Vietnam Pro" pitchFamily="34" charset="-122"/>
                <a:cs typeface="Be Vietnam Pro" pitchFamily="34" charset="-120"/>
              </a:rPr>
              <a:t>R4 · Khả năng 2 × Tác động 3 = 6 · Cao</a:t>
            </a:r>
            <a:endParaRPr lang="en-US" sz="1200" dirty="0"/>
          </a:p>
        </p:txBody>
      </p:sp>
      <p:sp>
        <p:nvSpPr>
          <p:cNvPr id="18" name="Text 16"/>
          <p:cNvSpPr/>
          <p:nvPr/>
        </p:nvSpPr>
        <p:spPr>
          <a:xfrm>
            <a:off x="6381750" y="3823791"/>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84B"/>
                </a:solidFill>
                <a:latin typeface="Be Vietnam Pro" pitchFamily="34" charset="0"/>
                <a:ea typeface="Be Vietnam Pro" pitchFamily="34" charset="-122"/>
                <a:cs typeface="Be Vietnam Pro" pitchFamily="34" charset="-120"/>
              </a:rPr>
              <a:t>Demo lỗi ngày bảo vệ</a:t>
            </a:r>
            <a:endParaRPr lang="en-US" sz="1500" dirty="0"/>
          </a:p>
        </p:txBody>
      </p:sp>
      <p:sp>
        <p:nvSpPr>
          <p:cNvPr id="19" name="Text 17"/>
          <p:cNvSpPr/>
          <p:nvPr/>
        </p:nvSpPr>
        <p:spPr>
          <a:xfrm>
            <a:off x="6381750" y="4128591"/>
            <a:ext cx="493153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5C"/>
                </a:solidFill>
                <a:latin typeface="Be Vietnam Pro" pitchFamily="34" charset="0"/>
                <a:ea typeface="Be Vietnam Pro" pitchFamily="34" charset="-122"/>
                <a:cs typeface="Be Vietnam Pro" pitchFamily="34" charset="-120"/>
              </a:rPr>
              <a:t>Dự phòng: bản Docker Compose chạy cục bộ và video demo quay sẵn (Đạt)</a:t>
            </a:r>
            <a:endParaRPr lang="en-US" sz="1300" dirty="0"/>
          </a:p>
        </p:txBody>
      </p:sp>
      <p:sp>
        <p:nvSpPr>
          <p:cNvPr id="20" name="Text 18"/>
          <p:cNvSpPr/>
          <p:nvPr/>
        </p:nvSpPr>
        <p:spPr>
          <a:xfrm>
            <a:off x="812800" y="4978202"/>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678"/>
                </a:solidFill>
                <a:latin typeface="Be Vietnam Pro" pitchFamily="34" charset="0"/>
                <a:ea typeface="Be Vietnam Pro" pitchFamily="34" charset="-122"/>
                <a:cs typeface="Be Vietnam Pro" pitchFamily="34" charset="-120"/>
              </a:rPr>
              <a:t>Theo dõi thêm: R5 công nghệ mới (4) · R6 xung đột tích hợp (4) · R7 bảo mật dữ liệu (3) · R8 vắng mặt dài ngày (2). Thang điểm 1–3, rà soát mỗi họp tuần.</a:t>
            </a:r>
            <a:endParaRPr lang="en-US" sz="12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e-HoSo · Project Plan · Nhóm INS6021</a:t>
            </a:r>
            <a:endParaRPr lang="en-US" sz="1200" dirty="0"/>
          </a:p>
        </p:txBody>
      </p:sp>
      <p:sp>
        <p:nvSpPr>
          <p:cNvPr id="22" name="Text 20"/>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686"/>
                </a:solidFill>
                <a:latin typeface="Be Vietnam Pro" pitchFamily="34" charset="0"/>
                <a:ea typeface="Be Vietnam Pro" pitchFamily="34" charset="-122"/>
                <a:cs typeface="Be Vietnam Pr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84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598"/>
                </a:solidFill>
                <a:latin typeface="Be Vietnam Pro" pitchFamily="34" charset="0"/>
                <a:ea typeface="Be Vietnam Pro" pitchFamily="34" charset="-122"/>
                <a:cs typeface="Be Vietnam Pro" pitchFamily="34" charset="-120"/>
              </a:rPr>
              <a:t>BƯỚC TIẾP THEO</a:t>
            </a:r>
            <a:endParaRPr lang="en-US" sz="1200" dirty="0"/>
          </a:p>
        </p:txBody>
      </p:sp>
      <p:sp>
        <p:nvSpPr>
          <p:cNvPr id="3" name="Text 1"/>
          <p:cNvSpPr>
            <a:spLocks noGrp="1"/>
          </p:cNvSpPr>
          <p:nvPr>
            <p:ph type="title"/>
          </p:nvPr>
        </p:nvSpPr>
        <p:spPr>
          <a:xfrm>
            <a:off x="812800" y="112772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F7F5F0"/>
                </a:solidFill>
                <a:latin typeface="Be Vietnam Pro" pitchFamily="34" charset="0"/>
                <a:ea typeface="Be Vietnam Pro" pitchFamily="34" charset="-122"/>
                <a:cs typeface="Be Vietnam Pro" pitchFamily="34" charset="-120"/>
              </a:rPr>
              <a:t>Nhóm sẵn sàng khởi động từ 27/10/2026</a:t>
            </a:r>
            <a:endParaRPr lang="en-US" sz="3600" dirty="0"/>
          </a:p>
        </p:txBody>
      </p:sp>
      <p:sp>
        <p:nvSpPr>
          <p:cNvPr id="4" name="Shape 2"/>
          <p:cNvSpPr/>
          <p:nvPr/>
        </p:nvSpPr>
        <p:spPr>
          <a:xfrm>
            <a:off x="812800" y="3064570"/>
            <a:ext cx="3386634" cy="0"/>
          </a:xfrm>
          <a:prstGeom prst="line">
            <a:avLst/>
          </a:prstGeom>
          <a:noFill/>
          <a:ln w="25400">
            <a:solidFill>
              <a:srgbClr val="E8A598"/>
            </a:solidFill>
            <a:prstDash val="solid"/>
          </a:ln>
        </p:spPr>
        <p:txBody>
          <a:bodyPr/>
          <a:lstStyle/>
          <a:p>
            <a:endParaRPr lang="en-VN"/>
          </a:p>
        </p:txBody>
      </p:sp>
      <p:sp>
        <p:nvSpPr>
          <p:cNvPr id="5" name="Text 3"/>
          <p:cNvSpPr/>
          <p:nvPr/>
        </p:nvSpPr>
        <p:spPr>
          <a:xfrm>
            <a:off x="812800" y="3229670"/>
            <a:ext cx="3488233"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8A598"/>
                </a:solidFill>
                <a:latin typeface="Be Vietnam Pro" pitchFamily="34" charset="0"/>
                <a:ea typeface="Be Vietnam Pro" pitchFamily="34" charset="-122"/>
                <a:cs typeface="Be Vietnam Pro" pitchFamily="34" charset="-120"/>
              </a:rPr>
              <a:t>27/10 – 29/10</a:t>
            </a:r>
            <a:endParaRPr lang="en-US" sz="1400" dirty="0"/>
          </a:p>
        </p:txBody>
      </p:sp>
      <p:sp>
        <p:nvSpPr>
          <p:cNvPr id="6" name="Text 4"/>
          <p:cNvSpPr/>
          <p:nvPr/>
        </p:nvSpPr>
        <p:spPr>
          <a:xfrm>
            <a:off x="812800" y="3554760"/>
            <a:ext cx="348823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3EE"/>
                </a:solidFill>
                <a:latin typeface="Be Vietnam Pro" pitchFamily="34" charset="0"/>
                <a:ea typeface="Be Vietnam Pro" pitchFamily="34" charset="-122"/>
                <a:cs typeface="Be Vietnam Pro" pitchFamily="34" charset="-120"/>
              </a:rPr>
              <a:t>Thiết lập repository, quy ước nhánh và CI khung</a:t>
            </a:r>
            <a:endParaRPr lang="en-US" sz="1400" dirty="0"/>
          </a:p>
        </p:txBody>
      </p:sp>
      <p:sp>
        <p:nvSpPr>
          <p:cNvPr id="7" name="Shape 5"/>
          <p:cNvSpPr/>
          <p:nvPr/>
        </p:nvSpPr>
        <p:spPr>
          <a:xfrm>
            <a:off x="4402634" y="3064570"/>
            <a:ext cx="3386683" cy="0"/>
          </a:xfrm>
          <a:prstGeom prst="line">
            <a:avLst/>
          </a:prstGeom>
          <a:noFill/>
          <a:ln w="25400">
            <a:solidFill>
              <a:srgbClr val="DCE3EE"/>
            </a:solidFill>
            <a:prstDash val="solid"/>
          </a:ln>
        </p:spPr>
        <p:txBody>
          <a:bodyPr/>
          <a:lstStyle/>
          <a:p>
            <a:endParaRPr lang="en-VN"/>
          </a:p>
        </p:txBody>
      </p:sp>
      <p:sp>
        <p:nvSpPr>
          <p:cNvPr id="8" name="Text 6"/>
          <p:cNvSpPr/>
          <p:nvPr/>
        </p:nvSpPr>
        <p:spPr>
          <a:xfrm>
            <a:off x="4402634" y="3229670"/>
            <a:ext cx="348828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7F5F0"/>
                </a:solidFill>
                <a:latin typeface="Be Vietnam Pro" pitchFamily="34" charset="0"/>
                <a:ea typeface="Be Vietnam Pro" pitchFamily="34" charset="-122"/>
                <a:cs typeface="Be Vietnam Pro" pitchFamily="34" charset="-120"/>
              </a:rPr>
              <a:t>27/10 – 30/10</a:t>
            </a:r>
            <a:endParaRPr lang="en-US" sz="1400" dirty="0"/>
          </a:p>
        </p:txBody>
      </p:sp>
      <p:sp>
        <p:nvSpPr>
          <p:cNvPr id="9" name="Text 7"/>
          <p:cNvSpPr/>
          <p:nvPr/>
        </p:nvSpPr>
        <p:spPr>
          <a:xfrm>
            <a:off x="4402634" y="3554760"/>
            <a:ext cx="3488284"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3EE"/>
                </a:solidFill>
                <a:latin typeface="Be Vietnam Pro" pitchFamily="34" charset="0"/>
                <a:ea typeface="Be Vietnam Pro" pitchFamily="34" charset="-122"/>
                <a:cs typeface="Be Vietnam Pro" pitchFamily="34" charset="-120"/>
              </a:rPr>
              <a:t>Khảo sát yêu cầu, hoàn thiện SRS và ma trận truy vết</a:t>
            </a:r>
            <a:endParaRPr lang="en-US" sz="1400" dirty="0"/>
          </a:p>
        </p:txBody>
      </p:sp>
      <p:sp>
        <p:nvSpPr>
          <p:cNvPr id="10" name="Shape 8"/>
          <p:cNvSpPr/>
          <p:nvPr/>
        </p:nvSpPr>
        <p:spPr>
          <a:xfrm>
            <a:off x="7992517" y="3064570"/>
            <a:ext cx="3386683" cy="0"/>
          </a:xfrm>
          <a:prstGeom prst="line">
            <a:avLst/>
          </a:prstGeom>
          <a:noFill/>
          <a:ln w="25400">
            <a:solidFill>
              <a:srgbClr val="DCE3EE"/>
            </a:solidFill>
            <a:prstDash val="solid"/>
          </a:ln>
        </p:spPr>
        <p:txBody>
          <a:bodyPr/>
          <a:lstStyle/>
          <a:p>
            <a:endParaRPr lang="en-VN"/>
          </a:p>
        </p:txBody>
      </p:sp>
      <p:sp>
        <p:nvSpPr>
          <p:cNvPr id="11" name="Text 9"/>
          <p:cNvSpPr/>
          <p:nvPr/>
        </p:nvSpPr>
        <p:spPr>
          <a:xfrm>
            <a:off x="7992517" y="3229670"/>
            <a:ext cx="348828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7F5F0"/>
                </a:solidFill>
                <a:latin typeface="Be Vietnam Pro" pitchFamily="34" charset="0"/>
                <a:ea typeface="Be Vietnam Pro" pitchFamily="34" charset="-122"/>
                <a:cs typeface="Be Vietnam Pro" pitchFamily="34" charset="-120"/>
              </a:rPr>
              <a:t>01/11</a:t>
            </a:r>
            <a:endParaRPr lang="en-US" sz="1400" dirty="0"/>
          </a:p>
        </p:txBody>
      </p:sp>
      <p:sp>
        <p:nvSpPr>
          <p:cNvPr id="12" name="Text 10"/>
          <p:cNvSpPr/>
          <p:nvPr/>
        </p:nvSpPr>
        <p:spPr>
          <a:xfrm>
            <a:off x="7992517" y="3554760"/>
            <a:ext cx="3488284"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3EE"/>
                </a:solidFill>
                <a:latin typeface="Be Vietnam Pro" pitchFamily="34" charset="0"/>
                <a:ea typeface="Be Vietnam Pro" pitchFamily="34" charset="-122"/>
                <a:cs typeface="Be Vietnam Pro" pitchFamily="34" charset="-120"/>
              </a:rPr>
              <a:t>Nộp SRS v1.0 (mốc M1), bắt đầu thiết kế</a:t>
            </a:r>
            <a:endParaRPr lang="en-US" sz="1400" dirty="0"/>
          </a:p>
        </p:txBody>
      </p:sp>
      <p:sp>
        <p:nvSpPr>
          <p:cNvPr id="13" name="Text 11"/>
          <p:cNvSpPr/>
          <p:nvPr/>
        </p:nvSpPr>
        <p:spPr>
          <a:xfrm>
            <a:off x="812800" y="545088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7F5F0"/>
                </a:solidFill>
                <a:latin typeface="Be Vietnam Pro" pitchFamily="34" charset="0"/>
                <a:ea typeface="Be Vietnam Pro" pitchFamily="34" charset="-122"/>
                <a:cs typeface="Be Vietnam Pro" pitchFamily="34" charset="-120"/>
              </a:rPr>
              <a:t>Cảm ơn thầy và các bạn.</a:t>
            </a:r>
            <a:endParaRPr lang="en-US" sz="22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8"/>
                </a:solidFill>
                <a:latin typeface="Be Vietnam Pro" pitchFamily="34" charset="0"/>
                <a:ea typeface="Be Vietnam Pro" pitchFamily="34" charset="-122"/>
                <a:cs typeface="Be Vietnam Pro" pitchFamily="34" charset="-120"/>
              </a:rPr>
              <a:t>e-HoSo · Project Plan · Nhóm INS6021</a:t>
            </a:r>
            <a:endParaRPr lang="en-US" sz="1200" dirty="0"/>
          </a:p>
        </p:txBody>
      </p:sp>
      <p:sp>
        <p:nvSpPr>
          <p:cNvPr id="15" name="Text 13"/>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0C8"/>
                </a:solidFill>
                <a:latin typeface="Be Vietnam Pro" pitchFamily="34" charset="0"/>
                <a:ea typeface="Be Vietnam Pro" pitchFamily="34" charset="-122"/>
                <a:cs typeface="Be Vietnam Pro" pitchFamily="34" charset="-120"/>
              </a:rPr>
              <a:t>12</a:t>
            </a:r>
            <a:endParaRPr lang="en-US" sz="1200" dirty="0"/>
          </a:p>
        </p:txBody>
      </p:sp>
    </p:spTree>
  </p:cSld>
  <p:clrMapOvr>
    <a:masterClrMapping/>
  </p:clrMapOvr>
</p:sld>
</file>

<file path=ppt/theme/theme1.xml><?xml version="1.0" encoding="utf-8"?>
<a:theme xmlns:a="http://schemas.openxmlformats.org/drawingml/2006/main" name="e-HoSo – Project Plan">
  <a:themeElements>
    <a:clrScheme name="e-HoSo – Project Plan">
      <a:dk1>
        <a:srgbClr val="14284B"/>
      </a:dk1>
      <a:lt1>
        <a:srgbClr val="ECEFF4"/>
      </a:lt1>
      <a:dk2>
        <a:srgbClr val="4A5A75"/>
      </a:dk2>
      <a:lt2>
        <a:srgbClr val="D6DBE3"/>
      </a:lt2>
      <a:accent1>
        <a:srgbClr val="B23A2E"/>
      </a:accent1>
      <a:accent2>
        <a:srgbClr val="2F6DB5"/>
      </a:accent2>
      <a:accent3>
        <a:srgbClr val="9DC0E8"/>
      </a:accent3>
      <a:accent4>
        <a:srgbClr val="E8A598"/>
      </a:accent4>
      <a:accent5>
        <a:srgbClr val="D98A3D"/>
      </a:accent5>
      <a:accent6>
        <a:srgbClr val="A45F1C"/>
      </a:accent6>
      <a:hlink>
        <a:srgbClr val="0563C1"/>
      </a:hlink>
      <a:folHlink>
        <a:srgbClr val="954F72"/>
      </a:folHlink>
    </a:clrScheme>
    <a:fontScheme name="e-HoSo – Project Plan">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3203</Words>
  <Application>Microsoft Macintosh PowerPoint</Application>
  <PresentationFormat>Widescreen</PresentationFormat>
  <Paragraphs>314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Be Vietnam Pro</vt:lpstr>
      <vt:lpstr>Arial</vt:lpstr>
      <vt:lpstr>e-HoSo – Project Plan</vt:lpstr>
      <vt:lpstr>e-HoSo</vt:lpstr>
      <vt:lpstr>Hồ sơ hành chính cấp xã vẫn xử lý thủ công</vt:lpstr>
      <vt:lpstr>Mục tiêu và phạm vi MVP</vt:lpstr>
      <vt:lpstr>5 vai trò, đóng góp như nhau</vt:lpstr>
      <vt:lpstr>Điều lệ nhóm (Team Charter)</vt:lpstr>
      <vt:lpstr>6 mốc trong 6 tuần</vt:lpstr>
      <vt:lpstr>Quy trình kỹ thuật</vt:lpstr>
      <vt:lpstr>8 chỉ số xem lại tại mỗi họp tuần</vt:lpstr>
      <vt:lpstr>28 công việc, 325 giờ, kết thúc 06/12</vt:lpstr>
      <vt:lpstr>Mỗi người đúng 65 giờ, 20% công việc</vt:lpstr>
      <vt:lpstr>4 rủi ro ưu tiên và cách ứng phó</vt:lpstr>
      <vt:lpstr>Nhóm sẵn sàng khởi động từ 27/10/2026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e-HoSo – Project Plan</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Tiến Đỗ Văn</cp:lastModifiedBy>
  <cp:revision>2</cp:revision>
  <dcterms:created xsi:type="dcterms:W3CDTF">2026-10-25T15:38:53Z</dcterms:created>
  <dcterms:modified xsi:type="dcterms:W3CDTF">2026-10-25T15:42:39Z</dcterms:modified>
</cp:coreProperties>
</file>